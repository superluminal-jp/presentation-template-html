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1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04770"/>
            <a:ext cx="9359646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各レイアウトが</a:t>
            </a:r>
            <a:endParaRPr lang="en-US" sz="4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自らの使い方を示すテンプレート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1965960"/>
            <a:ext cx="8400821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デジタル庁DS準拠・このデック自体が使い方の見本です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6126480"/>
            <a:ext cx="1127729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2179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16レイアウト        12コンポーネント        DS v2.0.1 準拠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 / 20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0477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この</a:t>
            </a:r>
            <a:pPr algn="l" indent="0" marL="0">
              <a:buNone/>
            </a:pPr>
            <a:r>
              <a:rPr lang="en-US" sz="270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デック自体</a:t>
            </a:r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が使い方の見本です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3138"/>
            <a:ext cx="609905" cy="38405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554480"/>
            <a:ext cx="68580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325880" y="1554480"/>
            <a:ext cx="6573317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レイアウトの選び方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221992"/>
            <a:ext cx="7441997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331720"/>
            <a:ext cx="68580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25880" y="2331720"/>
            <a:ext cx="6573317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主張と根拠の書き方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999232"/>
            <a:ext cx="7441997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108960"/>
            <a:ext cx="68580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25880" y="3108960"/>
            <a:ext cx="6573317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データの見せ方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776472"/>
            <a:ext cx="7441997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886200"/>
            <a:ext cx="68580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04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25880" y="3886200"/>
            <a:ext cx="6573317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手順とスケジュール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4553712"/>
            <a:ext cx="7441997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663440"/>
            <a:ext cx="68580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05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25880" y="4663440"/>
            <a:ext cx="6573317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出典と設計意図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5330952"/>
            <a:ext cx="7441997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 / 20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965960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spc="200" kern="0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SECTION 01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935964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章扉レイアウト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457200" y="3886200"/>
            <a:ext cx="38405" cy="640080"/>
          </a:xfrm>
          <a:prstGeom prst="rect">
            <a:avLst/>
          </a:prstGeom>
          <a:solidFill>
            <a:srgbClr val="0031D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" y="3886200"/>
            <a:ext cx="840082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章の変わり目で緩急をつけ、次章の主張を1文で予告する。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 / 20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0477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本文は</a:t>
            </a:r>
            <a:pPr algn="l" indent="0" marL="0">
              <a:buNone/>
            </a:pPr>
            <a:r>
              <a:rPr lang="en-US" sz="270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見出しに主張・本文に根拠</a:t>
            </a:r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を置きます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3138"/>
            <a:ext cx="609905" cy="38405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554480"/>
            <a:ext cx="64831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lnSpc>
                <a:spcPct val="16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見出しは結論（アクションタイトル）を1文で</a:t>
            </a:r>
            <a:endParaRPr lang="en-US" sz="1500" dirty="0"/>
          </a:p>
          <a:p>
            <a:pPr algn="l" marL="228600" indent="-228600">
              <a:lnSpc>
                <a:spcPct val="16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本文は根拠を7項目以内の箇条書きで</a:t>
            </a:r>
            <a:endParaRPr lang="en-US" sz="1500" dirty="0"/>
          </a:p>
          <a:p>
            <a:pPr algn="l" marL="228600" indent="-228600">
              <a:lnSpc>
                <a:spcPct val="16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右の枠に図版やコンポーネントを差し込む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168972" y="1554480"/>
            <a:ext cx="4565523" cy="4389120"/>
          </a:xfrm>
          <a:prstGeom prst="roundRect">
            <a:avLst>
              <a:gd name="adj" fmla="val 1667"/>
            </a:avLst>
          </a:prstGeom>
          <a:solidFill>
            <a:srgbClr val="F2F2F2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43292" y="3063240"/>
            <a:ext cx="4016883" cy="1371600"/>
          </a:xfrm>
          <a:prstGeom prst="rect">
            <a:avLst/>
          </a:prstGeom>
          <a:solidFill>
            <a:srgbClr val="E8F1FE"/>
          </a:solidFill>
          <a:ln/>
        </p:spPr>
      </p:sp>
      <p:sp>
        <p:nvSpPr>
          <p:cNvPr id="7" name="Shape 5"/>
          <p:cNvSpPr/>
          <p:nvPr/>
        </p:nvSpPr>
        <p:spPr>
          <a:xfrm>
            <a:off x="7443292" y="3063240"/>
            <a:ext cx="54864" cy="1371600"/>
          </a:xfrm>
          <a:prstGeom prst="rect">
            <a:avLst/>
          </a:prstGeom>
          <a:solidFill>
            <a:srgbClr val="0031D8"/>
          </a:solidFill>
          <a:ln/>
        </p:spPr>
      </p:sp>
      <p:sp>
        <p:nvSpPr>
          <p:cNvPr id="8" name="Text 6"/>
          <p:cNvSpPr/>
          <p:nvPr/>
        </p:nvSpPr>
        <p:spPr>
          <a:xfrm>
            <a:off x="7671892" y="3172968"/>
            <a:ext cx="3651123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コンポーネント差し込み例
</a:t>
            </a:r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.callout をスライド内にそのまま配置（グリッド非依存）。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6126480"/>
            <a:ext cx="11277295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181344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使い方: Assertion–Evidence 構造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 / 20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0477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比較は</a:t>
            </a:r>
            <a:pPr algn="l" indent="0" marL="0">
              <a:buNone/>
            </a:pPr>
            <a:r>
              <a:rPr lang="en-US" sz="270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2案を同一基準</a:t>
            </a:r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で並べます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3138"/>
            <a:ext cx="609905" cy="38405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417320"/>
            <a:ext cx="11277295" cy="640080"/>
          </a:xfrm>
          <a:prstGeom prst="roundRect">
            <a:avLst>
              <a:gd name="adj" fmla="val 8571"/>
            </a:avLst>
          </a:prstGeom>
          <a:solidFill>
            <a:srgbClr val="E8F1FE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417320"/>
            <a:ext cx="38405" cy="640080"/>
          </a:xfrm>
          <a:prstGeom prst="rect">
            <a:avLst/>
          </a:prstGeom>
          <a:solidFill>
            <a:srgbClr val="0031D8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417320"/>
            <a:ext cx="108200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 結論（推奨案）を先頭に置き、根拠を下に並べる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5486263" cy="3611880"/>
          </a:xfrm>
          <a:prstGeom prst="roundRect">
            <a:avLst>
              <a:gd name="adj" fmla="val 1519"/>
            </a:avLst>
          </a:prstGeom>
          <a:solidFill>
            <a:srgbClr val="F2F2F2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560320"/>
            <a:ext cx="4937623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案A: 中立に記述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200400"/>
            <a:ext cx="4937623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見出しに案名を置く</a:t>
            </a:r>
            <a:endParaRPr lang="en-US" sz="1350" dirty="0"/>
          </a:p>
          <a:p>
            <a:pPr algn="l" marL="203200" indent="-2032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箇条書きで特徴を対比</a:t>
            </a:r>
            <a:endParaRPr lang="en-US" sz="1350" dirty="0"/>
          </a:p>
          <a:p>
            <a:pPr algn="l" marL="203200" indent="-2032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誇張しない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48232" y="2331720"/>
            <a:ext cx="5486263" cy="3611880"/>
          </a:xfrm>
          <a:prstGeom prst="roundRect">
            <a:avLst>
              <a:gd name="adj" fmla="val 1519"/>
            </a:avLst>
          </a:prstGeom>
          <a:solidFill>
            <a:srgbClr val="F2F2F2"/>
          </a:solidFill>
          <a:ln w="25400">
            <a:solidFill>
              <a:srgbClr val="0031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48232" y="2331720"/>
            <a:ext cx="5486263" cy="45720"/>
          </a:xfrm>
          <a:prstGeom prst="rect">
            <a:avLst/>
          </a:prstGeom>
          <a:solidFill>
            <a:srgbClr val="0031D8"/>
          </a:solidFill>
          <a:ln/>
        </p:spPr>
      </p:sp>
      <p:sp>
        <p:nvSpPr>
          <p:cNvPr id="12" name="Text 10"/>
          <p:cNvSpPr/>
          <p:nvPr/>
        </p:nvSpPr>
        <p:spPr>
          <a:xfrm>
            <a:off x="6522552" y="2560320"/>
            <a:ext cx="4937623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案B: 推奨を強調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22552" y="3200400"/>
            <a:ext cx="4937623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accent 枠で推奨を明示</a:t>
            </a:r>
            <a:endParaRPr lang="en-US" sz="1350" dirty="0"/>
          </a:p>
          <a:p>
            <a:pPr algn="l" marL="203200" indent="-2032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デフォルト効果を活用</a:t>
            </a:r>
            <a:endParaRPr lang="en-US" sz="1350" dirty="0"/>
          </a:p>
          <a:p>
            <a:pPr algn="l" marL="203200" indent="-2032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3項目以内に絞る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57200" y="6126480"/>
            <a:ext cx="11277295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6181344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使い方: フレーミング / C.R.A.P.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 / 20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0477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図表は</a:t>
            </a:r>
            <a:pPr algn="l" indent="0" marL="0">
              <a:buNone/>
            </a:pPr>
            <a:r>
              <a:rPr lang="en-US" sz="270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基準値を先に</a:t>
            </a:r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示して解釈を助けます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3138"/>
            <a:ext cx="609905" cy="38405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417320"/>
            <a:ext cx="7441997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25400">
            <a:solidFill>
              <a:srgbClr val="999999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31520" y="1417320"/>
            <a:ext cx="6893357" cy="4526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［図表／画像を差し込む（作成者の実データ図を受ける枠）］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127797" y="2834640"/>
            <a:ext cx="360669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例: 75%減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127797" y="3566160"/>
            <a:ext cx="360669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基準値を左に置き、差分の意味を1文で添える。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6126480"/>
            <a:ext cx="11277295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6181344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使い方: Cleveland–McGill / データインク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6 / 20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0477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まとめは</a:t>
            </a:r>
            <a:pPr algn="l" indent="0" marL="0">
              <a:buNone/>
            </a:pPr>
            <a:r>
              <a:rPr lang="en-US" sz="270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3点</a:t>
            </a:r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に凝縮します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3138"/>
            <a:ext cx="609905" cy="38405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417320"/>
            <a:ext cx="3555919" cy="2651760"/>
          </a:xfrm>
          <a:prstGeom prst="roundRect">
            <a:avLst>
              <a:gd name="adj" fmla="val 2069"/>
            </a:avLst>
          </a:prstGeom>
          <a:solidFill>
            <a:srgbClr val="F2F2F2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417320"/>
            <a:ext cx="3555919" cy="45720"/>
          </a:xfrm>
          <a:prstGeom prst="rect">
            <a:avLst/>
          </a:prstGeom>
          <a:solidFill>
            <a:srgbClr val="0031D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91640"/>
            <a:ext cx="300727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31520" y="2606040"/>
            <a:ext cx="3007279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レイアウトを選ぶ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17888" y="1417320"/>
            <a:ext cx="3555919" cy="2651760"/>
          </a:xfrm>
          <a:prstGeom prst="roundRect">
            <a:avLst>
              <a:gd name="adj" fmla="val 2069"/>
            </a:avLst>
          </a:prstGeom>
          <a:solidFill>
            <a:srgbClr val="F2F2F2"/>
          </a:solidFill>
          <a:ln/>
        </p:spPr>
      </p:sp>
      <p:sp>
        <p:nvSpPr>
          <p:cNvPr id="9" name="Shape 7"/>
          <p:cNvSpPr/>
          <p:nvPr/>
        </p:nvSpPr>
        <p:spPr>
          <a:xfrm>
            <a:off x="4317888" y="1417320"/>
            <a:ext cx="3555919" cy="45720"/>
          </a:xfrm>
          <a:prstGeom prst="rect">
            <a:avLst/>
          </a:prstGeom>
          <a:solidFill>
            <a:srgbClr val="0031D8"/>
          </a:solidFill>
          <a:ln/>
        </p:spPr>
      </p:sp>
      <p:sp>
        <p:nvSpPr>
          <p:cNvPr id="10" name="Text 8"/>
          <p:cNvSpPr/>
          <p:nvPr/>
        </p:nvSpPr>
        <p:spPr>
          <a:xfrm>
            <a:off x="4592208" y="1691640"/>
            <a:ext cx="300727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4592208" y="2606040"/>
            <a:ext cx="3007279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役割変数に差し込む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178576" y="1417320"/>
            <a:ext cx="3555919" cy="2651760"/>
          </a:xfrm>
          <a:prstGeom prst="roundRect">
            <a:avLst>
              <a:gd name="adj" fmla="val 2069"/>
            </a:avLst>
          </a:prstGeom>
          <a:solidFill>
            <a:srgbClr val="F2F2F2"/>
          </a:solidFill>
          <a:ln/>
        </p:spPr>
      </p:sp>
      <p:sp>
        <p:nvSpPr>
          <p:cNvPr id="13" name="Shape 11"/>
          <p:cNvSpPr/>
          <p:nvPr/>
        </p:nvSpPr>
        <p:spPr>
          <a:xfrm>
            <a:off x="8178576" y="1417320"/>
            <a:ext cx="3555919" cy="45720"/>
          </a:xfrm>
          <a:prstGeom prst="rect">
            <a:avLst/>
          </a:prstGeom>
          <a:solidFill>
            <a:srgbClr val="0031D8"/>
          </a:solidFill>
          <a:ln/>
        </p:spPr>
      </p:sp>
      <p:sp>
        <p:nvSpPr>
          <p:cNvPr id="14" name="Text 12"/>
          <p:cNvSpPr/>
          <p:nvPr/>
        </p:nvSpPr>
        <p:spPr>
          <a:xfrm>
            <a:off x="8452896" y="1691640"/>
            <a:ext cx="300727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8452896" y="2606040"/>
            <a:ext cx="3007279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印刷/PDFで出力する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4389120"/>
            <a:ext cx="11277295" cy="685800"/>
          </a:xfrm>
          <a:prstGeom prst="roundRect">
            <a:avLst>
              <a:gd name="adj" fmla="val 8000"/>
            </a:avLst>
          </a:prstGeom>
          <a:solidFill>
            <a:srgbClr val="0031D8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389120"/>
            <a:ext cx="107286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使い方: この3手順でスライドを作り始めてください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7 / 20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0477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ビッグナンバーは</a:t>
            </a:r>
            <a:pPr algn="l" indent="0" marL="0">
              <a:buNone/>
            </a:pPr>
            <a:r>
              <a:rPr lang="en-US" sz="270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単一指標</a:t>
            </a:r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を大きく1点強調します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3138"/>
            <a:ext cx="609905" cy="38405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0"/>
            <a:ext cx="1127729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16</a:t>
            </a:r>
            <a:pPr algn="l" indent="0" marL="0">
              <a:buNone/>
            </a:pPr>
            <a:r>
              <a:rPr lang="en-US" sz="27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レイアウト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112772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内訳: コア </a:t>
            </a:r>
            <a:pPr algn="l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8</a:t>
            </a:r>
            <a:pPr algn="l" indent="0" marL="0">
              <a:buNone/>
            </a:pPr>
            <a:r>
              <a:rPr lang="en-US" sz="15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+ 拡張 </a:t>
            </a:r>
            <a:pPr algn="l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8</a:t>
            </a:r>
            <a:pPr algn="l" indent="0" marL="0">
              <a:buNone/>
            </a:pPr>
            <a:r>
              <a:rPr lang="en-US" sz="15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= </a:t>
            </a:r>
            <a:pPr algn="l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16</a:t>
            </a:r>
            <a:pPr algn="l" indent="0" marL="0">
              <a:buNone/>
            </a:pPr>
            <a:r>
              <a:rPr lang="en-US" sz="15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（用途で選ぶ）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6126480"/>
            <a:ext cx="11277295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181344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使い方: 強調は1箇所 / アンカリング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8 / 20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0477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ダッシュボードは</a:t>
            </a:r>
            <a:pPr algn="l" indent="0" marL="0">
              <a:buNone/>
            </a:pPr>
            <a:r>
              <a:rPr lang="en-US" sz="270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6件以内</a:t>
            </a:r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のKPIを整列します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3138"/>
            <a:ext cx="609905" cy="38405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417320"/>
            <a:ext cx="3657478" cy="2186925"/>
          </a:xfrm>
          <a:prstGeom prst="roundRect">
            <a:avLst>
              <a:gd name="adj" fmla="val 2509"/>
            </a:avLst>
          </a:prstGeom>
          <a:solidFill>
            <a:srgbClr val="F2F2F2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636776"/>
            <a:ext cx="31454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レイアウト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13232" y="1984248"/>
            <a:ext cx="314541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13232" y="3147045"/>
            <a:ext cx="314541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コア8+拡張8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67109" y="1417320"/>
            <a:ext cx="3657478" cy="2186925"/>
          </a:xfrm>
          <a:prstGeom prst="roundRect">
            <a:avLst>
              <a:gd name="adj" fmla="val 2509"/>
            </a:avLst>
          </a:prstGeom>
          <a:solidFill>
            <a:srgbClr val="F2F2F2"/>
          </a:solidFill>
          <a:ln w="12700">
            <a:solidFill>
              <a:srgbClr val="0031D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67109" y="1417320"/>
            <a:ext cx="3657478" cy="38405"/>
          </a:xfrm>
          <a:prstGeom prst="rect">
            <a:avLst/>
          </a:prstGeom>
          <a:solidFill>
            <a:srgbClr val="0031D8"/>
          </a:solidFill>
          <a:ln/>
        </p:spPr>
      </p:sp>
      <p:sp>
        <p:nvSpPr>
          <p:cNvPr id="10" name="Text 8"/>
          <p:cNvSpPr/>
          <p:nvPr/>
        </p:nvSpPr>
        <p:spPr>
          <a:xfrm>
            <a:off x="4523141" y="1636776"/>
            <a:ext cx="31454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コンポーネント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23141" y="1984248"/>
            <a:ext cx="314541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523141" y="3147045"/>
            <a:ext cx="314541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自作14+公式6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77017" y="1417320"/>
            <a:ext cx="3657478" cy="2186925"/>
          </a:xfrm>
          <a:prstGeom prst="roundRect">
            <a:avLst>
              <a:gd name="adj" fmla="val 2509"/>
            </a:avLst>
          </a:prstGeom>
          <a:solidFill>
            <a:srgbClr val="F2F2F2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3049" y="1636776"/>
            <a:ext cx="31454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採用手法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333049" y="1984248"/>
            <a:ext cx="314541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37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8333049" y="3147045"/>
            <a:ext cx="314541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出典付き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756675"/>
            <a:ext cx="3657478" cy="2186925"/>
          </a:xfrm>
          <a:prstGeom prst="roundRect">
            <a:avLst>
              <a:gd name="adj" fmla="val 2509"/>
            </a:avLst>
          </a:prstGeom>
          <a:solidFill>
            <a:srgbClr val="F2F2F2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3976131"/>
            <a:ext cx="31454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付録スライド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13232" y="4323603"/>
            <a:ext cx="314541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8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713232" y="5486400"/>
            <a:ext cx="314541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実例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267109" y="3756675"/>
            <a:ext cx="3657478" cy="2186925"/>
          </a:xfrm>
          <a:prstGeom prst="roundRect">
            <a:avLst>
              <a:gd name="adj" fmla="val 2509"/>
            </a:avLst>
          </a:prstGeom>
          <a:solidFill>
            <a:srgbClr val="F2F2F2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23141" y="3976131"/>
            <a:ext cx="31454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DS準拠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23141" y="4323603"/>
            <a:ext cx="314541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100%</a:t>
            </a:r>
            <a:endParaRPr lang="en-US" sz="4000" dirty="0"/>
          </a:p>
        </p:txBody>
      </p:sp>
      <p:sp>
        <p:nvSpPr>
          <p:cNvPr id="24" name="Text 22"/>
          <p:cNvSpPr/>
          <p:nvPr/>
        </p:nvSpPr>
        <p:spPr>
          <a:xfrm>
            <a:off x="4523141" y="5486400"/>
            <a:ext cx="314541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トークン参照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077017" y="3756675"/>
            <a:ext cx="3657478" cy="2186925"/>
          </a:xfrm>
          <a:prstGeom prst="roundRect">
            <a:avLst>
              <a:gd name="adj" fmla="val 2509"/>
            </a:avLst>
          </a:prstGeom>
          <a:solidFill>
            <a:srgbClr val="F2F2F2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33049" y="3976131"/>
            <a:ext cx="31454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ハードコード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333049" y="4323603"/>
            <a:ext cx="314541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</a:t>
            </a:r>
            <a:endParaRPr lang="en-US" sz="4000" dirty="0"/>
          </a:p>
        </p:txBody>
      </p:sp>
      <p:sp>
        <p:nvSpPr>
          <p:cNvPr id="28" name="Text 26"/>
          <p:cNvSpPr/>
          <p:nvPr/>
        </p:nvSpPr>
        <p:spPr>
          <a:xfrm>
            <a:off x="8333049" y="5486400"/>
            <a:ext cx="314541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lint検証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57200" y="6126480"/>
            <a:ext cx="11277295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6181344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使い方: 注目1件を強調・6件以内に抑える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9 / 20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0477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タイムラインは</a:t>
            </a:r>
            <a:pPr algn="l" indent="0" marL="0">
              <a:buNone/>
            </a:pPr>
            <a:r>
              <a:rPr lang="en-US" sz="270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時系列で全体像</a:t>
            </a:r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を示します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3138"/>
            <a:ext cx="609905" cy="38405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4" name="Shape 2"/>
          <p:cNvSpPr/>
          <p:nvPr/>
        </p:nvSpPr>
        <p:spPr>
          <a:xfrm>
            <a:off x="658368" y="2788920"/>
            <a:ext cx="10756087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5400000">
            <a:off x="11414455" y="2706624"/>
            <a:ext cx="164592" cy="164592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587752"/>
            <a:ext cx="402336" cy="402336"/>
          </a:xfrm>
          <a:prstGeom prst="ellipse">
            <a:avLst/>
          </a:prstGeom>
          <a:solidFill>
            <a:srgbClr val="0031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58775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3081528"/>
            <a:ext cx="26364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0週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7200" y="3447288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選ぶ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3931920"/>
            <a:ext cx="259072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レイアウトを複製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3212516" y="2523744"/>
            <a:ext cx="530352" cy="530352"/>
          </a:xfrm>
          <a:prstGeom prst="ellipse">
            <a:avLst/>
          </a:prstGeom>
          <a:solidFill>
            <a:srgbClr val="E8F1FE"/>
          </a:solidFill>
          <a:ln/>
        </p:spPr>
      </p:sp>
      <p:sp>
        <p:nvSpPr>
          <p:cNvPr id="12" name="Shape 10"/>
          <p:cNvSpPr/>
          <p:nvPr/>
        </p:nvSpPr>
        <p:spPr>
          <a:xfrm>
            <a:off x="3276524" y="2587752"/>
            <a:ext cx="402336" cy="402336"/>
          </a:xfrm>
          <a:prstGeom prst="ellipse">
            <a:avLst/>
          </a:prstGeom>
          <a:solidFill>
            <a:srgbClr val="0031D8"/>
          </a:solidFill>
          <a:ln/>
        </p:spPr>
      </p:sp>
      <p:sp>
        <p:nvSpPr>
          <p:cNvPr id="13" name="Text 11"/>
          <p:cNvSpPr/>
          <p:nvPr/>
        </p:nvSpPr>
        <p:spPr>
          <a:xfrm>
            <a:off x="3276524" y="258775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276524" y="3081528"/>
            <a:ext cx="26364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1週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276524" y="3447288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書く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276524" y="3931920"/>
            <a:ext cx="259072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主張と根拠を入力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095848" y="258775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999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95848" y="258775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095848" y="3081528"/>
            <a:ext cx="26364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2週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095848" y="3447288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整える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5848" y="3931920"/>
            <a:ext cx="259072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トークン内で調整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915171" y="258775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999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15171" y="258775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915171" y="3081528"/>
            <a:ext cx="26364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4週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915171" y="3447288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配る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915171" y="3931920"/>
            <a:ext cx="259072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印刷・PDFで共有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 / 20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0477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マトリクスは</a:t>
            </a:r>
            <a:pPr algn="l" indent="0" marL="0">
              <a:buNone/>
            </a:pPr>
            <a:r>
              <a:rPr lang="en-US" sz="270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2軸で位置づけ</a:t>
            </a:r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を示します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3138"/>
            <a:ext cx="609905" cy="38405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417320"/>
            <a:ext cx="5333832" cy="2004045"/>
          </a:xfrm>
          <a:prstGeom prst="roundRect">
            <a:avLst>
              <a:gd name="adj" fmla="val 2738"/>
            </a:avLst>
          </a:prstGeom>
          <a:solidFill>
            <a:srgbClr val="F2F2F2"/>
          </a:solidFill>
          <a:ln w="25400">
            <a:solidFill>
              <a:srgbClr val="0031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5333832" cy="45720"/>
          </a:xfrm>
          <a:prstGeom prst="rect">
            <a:avLst/>
          </a:prstGeom>
          <a:solidFill>
            <a:srgbClr val="0031D8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600200"/>
            <a:ext cx="48766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最優先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43000" y="2103120"/>
            <a:ext cx="4876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効果大・容易（推奨象限を強調）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663" y="1417320"/>
            <a:ext cx="5333832" cy="2004045"/>
          </a:xfrm>
          <a:prstGeom prst="roundRect">
            <a:avLst>
              <a:gd name="adj" fmla="val 2738"/>
            </a:avLst>
          </a:prstGeom>
          <a:solidFill>
            <a:srgbClr val="F2F2F2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29263" y="1600200"/>
            <a:ext cx="48766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計画的に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629263" y="2103120"/>
            <a:ext cx="4876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効果大・困難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14400" y="3573795"/>
            <a:ext cx="5333832" cy="2004045"/>
          </a:xfrm>
          <a:prstGeom prst="roundRect">
            <a:avLst>
              <a:gd name="adj" fmla="val 2738"/>
            </a:avLst>
          </a:prstGeom>
          <a:solidFill>
            <a:srgbClr val="F2F2F2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" y="3756675"/>
            <a:ext cx="48766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すきま時間で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143000" y="4259595"/>
            <a:ext cx="4876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効果小・容易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663" y="3573795"/>
            <a:ext cx="5333832" cy="2004045"/>
          </a:xfrm>
          <a:prstGeom prst="roundRect">
            <a:avLst>
              <a:gd name="adj" fmla="val 2738"/>
            </a:avLst>
          </a:prstGeom>
          <a:solidFill>
            <a:srgbClr val="F2F2F2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29263" y="3756675"/>
            <a:ext cx="48766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見送り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29263" y="4259595"/>
            <a:ext cx="4876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効果小・困難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 rot="16200000">
            <a:off x="-1805940" y="3314700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効果 高 → 低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14400" y="5669280"/>
            <a:ext cx="108200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容易さ 高 → 低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7295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6181344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使い方: 2軸で位置づけ・推奨象限を1つ強調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11 / 20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0477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プロセスは</a:t>
            </a:r>
            <a:pPr algn="l" indent="0" marL="0">
              <a:buNone/>
            </a:pPr>
            <a:r>
              <a:rPr lang="en-US" sz="270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3ステップ</a:t>
            </a:r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で手順を図解します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3138"/>
            <a:ext cx="609905" cy="38405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286000"/>
            <a:ext cx="3332378" cy="2103120"/>
          </a:xfrm>
          <a:prstGeom prst="roundRect">
            <a:avLst>
              <a:gd name="adj" fmla="val 2609"/>
            </a:avLst>
          </a:prstGeom>
          <a:solidFill>
            <a:srgbClr val="F2F2F2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560320"/>
            <a:ext cx="333237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457200" y="3383280"/>
            <a:ext cx="33323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選ぶ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3840480"/>
            <a:ext cx="29666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レイアウトを複製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789578" y="2286000"/>
            <a:ext cx="640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4429658" y="2286000"/>
            <a:ext cx="3332378" cy="2103120"/>
          </a:xfrm>
          <a:prstGeom prst="roundRect">
            <a:avLst>
              <a:gd name="adj" fmla="val 2609"/>
            </a:avLst>
          </a:prstGeom>
          <a:solidFill>
            <a:srgbClr val="F2F2F2"/>
          </a:solidFill>
          <a:ln/>
        </p:spPr>
      </p:sp>
      <p:sp>
        <p:nvSpPr>
          <p:cNvPr id="10" name="Text 8"/>
          <p:cNvSpPr/>
          <p:nvPr/>
        </p:nvSpPr>
        <p:spPr>
          <a:xfrm>
            <a:off x="4429658" y="2560320"/>
            <a:ext cx="333237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4429658" y="3383280"/>
            <a:ext cx="33323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差し込む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12538" y="3840480"/>
            <a:ext cx="29666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役割変数のまま入力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762037" y="2286000"/>
            <a:ext cx="640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8402117" y="2286000"/>
            <a:ext cx="3332378" cy="2103120"/>
          </a:xfrm>
          <a:prstGeom prst="roundRect">
            <a:avLst>
              <a:gd name="adj" fmla="val 2609"/>
            </a:avLst>
          </a:prstGeom>
          <a:solidFill>
            <a:srgbClr val="F2F2F2"/>
          </a:solidFill>
          <a:ln/>
        </p:spPr>
      </p:sp>
      <p:sp>
        <p:nvSpPr>
          <p:cNvPr id="15" name="Text 13"/>
          <p:cNvSpPr/>
          <p:nvPr/>
        </p:nvSpPr>
        <p:spPr>
          <a:xfrm>
            <a:off x="8402117" y="2560320"/>
            <a:ext cx="333237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8402117" y="3383280"/>
            <a:ext cx="33323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出す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584997" y="3840480"/>
            <a:ext cx="29666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印刷/PDF 出力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57200" y="6126480"/>
            <a:ext cx="11277295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6181344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使い方: 番号+矢印で手順を明確化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12 / 20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280160"/>
            <a:ext cx="12801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“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9359646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7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引用レイアウトは、事実に基づく実利用者の声だけを載せます。誇張や捏造はしません。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4846320"/>
            <a:ext cx="11277295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937760"/>
            <a:ext cx="112772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［氏名・肩書きを記入］</a:t>
            </a:r>
            <a:pPr algn="l" indent="0" marL="0">
              <a:buNone/>
            </a:pPr>
            <a:r>
              <a:rPr lang="en-US" sz="15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— ［部署／団体を記入］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13 / 20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28600"/>
            <a:ext cx="11734495" cy="6400800"/>
          </a:xfrm>
          <a:prstGeom prst="rect">
            <a:avLst/>
          </a:prstGeom>
          <a:solidFill>
            <a:srgbClr val="F2F2F2"/>
          </a:solidFill>
          <a:ln w="25400">
            <a:solidFill>
              <a:srgbClr val="99999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2191695" cy="5394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［全面画像を差し込む（著作物は各自用意）］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228600" y="5074920"/>
            <a:ext cx="11734495" cy="1554480"/>
          </a:xfrm>
          <a:prstGeom prst="rect">
            <a:avLst/>
          </a:prstGeom>
          <a:solidFill>
            <a:srgbClr val="333333">
              <a:alpha val="8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5257800"/>
            <a:ext cx="7441997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全面ビジュアルで印象づける
</a:t>
            </a:r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要点は1行、スクリムで重ね文字のコントラスト（AA）を確保。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14 / 20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31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0477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クロージングは行動喚起で締めます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3138"/>
            <a:ext cx="609905" cy="3840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0"/>
            <a:ext cx="10318471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このテンプレートで、</a:t>
            </a:r>
            <a:endParaRPr lang="en-US" sz="4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次の資料を作り始めてください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457200" y="5074920"/>
            <a:ext cx="1127729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5166360"/>
            <a:ext cx="1127729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連絡先: ［メール／チャンネルを記入］          資料・テンプレート: ［リンク］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15 / 20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0477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出典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3138"/>
            <a:ext cx="609905" cy="38405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417320"/>
            <a:ext cx="5486263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90000"/>
              </a:lnSpc>
              <a:buNone/>
            </a:pPr>
            <a:r>
              <a:rPr lang="en-US" sz="105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A-pyramid  </a:t>
            </a:r>
            <a:pPr algn="l" indent="0" marL="0">
              <a:lnSpc>
                <a:spcPct val="190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Minto, The Minto Pyramid Principle (2009)
</a:t>
            </a:r>
            <a:pPr algn="l" indent="0" marL="0">
              <a:lnSpc>
                <a:spcPct val="190000"/>
              </a:lnSpc>
              <a:buNone/>
            </a:pPr>
            <a:r>
              <a:rPr lang="en-US" sz="105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A-assertion-evidence  </a:t>
            </a:r>
            <a:pPr algn="l" indent="0" marL="0">
              <a:lnSpc>
                <a:spcPct val="190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Alley, The Craft of Scientific Presentations (2013)
</a:t>
            </a:r>
            <a:pPr algn="l" indent="0" marL="0">
              <a:lnSpc>
                <a:spcPct val="190000"/>
              </a:lnSpc>
              <a:buNone/>
            </a:pPr>
            <a:r>
              <a:rPr lang="en-US" sz="105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B-crap  </a:t>
            </a:r>
            <a:pPr algn="l" indent="0" marL="0">
              <a:lnSpc>
                <a:spcPct val="190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Williams, The Non-Designer's Design Book (2014)
</a:t>
            </a:r>
            <a:pPr algn="l" indent="0" marL="0">
              <a:lnSpc>
                <a:spcPct val="190000"/>
              </a:lnSpc>
              <a:buNone/>
            </a:pPr>
            <a:r>
              <a:rPr lang="en-US" sz="105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C-cleveland-mcgill  </a:t>
            </a:r>
            <a:pPr algn="l" indent="0" marL="0">
              <a:lnSpc>
                <a:spcPct val="190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Cleveland &amp; McGill, JASA (1984)
</a:t>
            </a:r>
            <a:pPr algn="l" indent="0" marL="0">
              <a:lnSpc>
                <a:spcPct val="190000"/>
              </a:lnSpc>
              <a:buNone/>
            </a:pPr>
            <a:r>
              <a:rPr lang="en-US" sz="105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C-data-ink  </a:t>
            </a:r>
            <a:pPr algn="l" indent="0" marL="0">
              <a:lnSpc>
                <a:spcPct val="190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Tufte, The Visual Display of Quantitative Information (1983)
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248232" y="1417320"/>
            <a:ext cx="5486263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90000"/>
              </a:lnSpc>
              <a:buNone/>
            </a:pPr>
            <a:r>
              <a:rPr lang="en-US" sz="105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D-miller  </a:t>
            </a:r>
            <a:pPr algn="l" indent="0" marL="0">
              <a:lnSpc>
                <a:spcPct val="190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Miller, Psychological Review (1956)
</a:t>
            </a:r>
            <a:pPr algn="l" indent="0" marL="0">
              <a:lnSpc>
                <a:spcPct val="190000"/>
              </a:lnSpc>
              <a:buNone/>
            </a:pPr>
            <a:r>
              <a:rPr lang="en-US" sz="105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D-clt  </a:t>
            </a:r>
            <a:pPr algn="l" indent="0" marL="0">
              <a:lnSpc>
                <a:spcPct val="190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Sweller (1988)
</a:t>
            </a:r>
            <a:pPr algn="l" indent="0" marL="0">
              <a:lnSpc>
                <a:spcPct val="190000"/>
              </a:lnSpc>
              <a:buNone/>
            </a:pPr>
            <a:r>
              <a:rPr lang="en-US" sz="105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E-peak-end  </a:t>
            </a:r>
            <a:pPr algn="l" indent="0" marL="0">
              <a:lnSpc>
                <a:spcPct val="190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Kahneman, Thinking, Fast and Slow (2011)
</a:t>
            </a:r>
            <a:pPr algn="l" indent="0" marL="0">
              <a:lnSpc>
                <a:spcPct val="190000"/>
              </a:lnSpc>
              <a:buNone/>
            </a:pPr>
            <a:r>
              <a:rPr lang="en-US" sz="105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E-framing  </a:t>
            </a:r>
            <a:pPr algn="l" indent="0" marL="0">
              <a:lnSpc>
                <a:spcPct val="190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Tversky &amp; Kahneman (1981)
</a:t>
            </a:r>
            <a:pPr algn="l" indent="0" marL="0">
              <a:lnSpc>
                <a:spcPct val="190000"/>
              </a:lnSpc>
              <a:buNone/>
            </a:pPr>
            <a:r>
              <a:rPr lang="en-US" sz="105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B-wcag  </a:t>
            </a:r>
            <a:pPr algn="l" indent="0" marL="0">
              <a:lnSpc>
                <a:spcPct val="190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W3C WCAG 2.2
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57200" y="6126480"/>
            <a:ext cx="11277295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181344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全出典は docs/practices.md を参照（本スライドは抜粋）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16 / 20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0477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付録: </a:t>
            </a:r>
            <a:pPr algn="l" indent="0" marL="0">
              <a:buNone/>
            </a:pPr>
            <a:r>
              <a:rPr lang="en-US" sz="270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状態と通知</a:t>
            </a:r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の部品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3138"/>
            <a:ext cx="609905" cy="38405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55243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コールアウト（.callout）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5524348" cy="841248"/>
          </a:xfrm>
          <a:prstGeom prst="rect">
            <a:avLst/>
          </a:prstGeom>
          <a:solidFill>
            <a:srgbClr val="E8F1F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463040"/>
            <a:ext cx="54864" cy="841248"/>
          </a:xfrm>
          <a:prstGeom prst="rect">
            <a:avLst/>
          </a:prstGeom>
          <a:solidFill>
            <a:srgbClr val="0031D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463040"/>
            <a:ext cx="520430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情報  </a:t>
            </a:r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補足的な案内を短く。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14016"/>
            <a:ext cx="5524348" cy="841248"/>
          </a:xfrm>
          <a:prstGeom prst="rect">
            <a:avLst/>
          </a:prstGeom>
          <a:solidFill>
            <a:srgbClr val="E6F5EC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414016"/>
            <a:ext cx="54864" cy="841248"/>
          </a:xfrm>
          <a:prstGeom prst="rect">
            <a:avLst/>
          </a:prstGeom>
          <a:solidFill>
            <a:srgbClr val="115A36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14016"/>
            <a:ext cx="520430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5A3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成功  </a:t>
            </a:r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目標を達成しました。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3364992"/>
            <a:ext cx="5524348" cy="841248"/>
          </a:xfrm>
          <a:prstGeom prst="rect">
            <a:avLst/>
          </a:prstGeom>
          <a:solidFill>
            <a:srgbClr val="FFEEE2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3364992"/>
            <a:ext cx="54864" cy="841248"/>
          </a:xfrm>
          <a:prstGeom prst="rect">
            <a:avLst/>
          </a:prstGeom>
          <a:solidFill>
            <a:srgbClr val="AC3E00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364992"/>
            <a:ext cx="520430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C3E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注意  </a:t>
            </a:r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期限が近づいています。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57200" y="4315968"/>
            <a:ext cx="5524348" cy="841248"/>
          </a:xfrm>
          <a:prstGeom prst="rect">
            <a:avLst/>
          </a:prstGeom>
          <a:solidFill>
            <a:srgbClr val="FDEEEE"/>
          </a:solidFill>
          <a:ln/>
        </p:spPr>
      </p:sp>
      <p:sp>
        <p:nvSpPr>
          <p:cNvPr id="15" name="Shape 13"/>
          <p:cNvSpPr/>
          <p:nvPr/>
        </p:nvSpPr>
        <p:spPr>
          <a:xfrm>
            <a:off x="457200" y="4315968"/>
            <a:ext cx="54864" cy="841248"/>
          </a:xfrm>
          <a:prstGeom prst="rect">
            <a:avLst/>
          </a:prstGeom>
          <a:solidFill>
            <a:srgbClr val="CE0000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315968"/>
            <a:ext cx="520430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E00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エラー  </a:t>
            </a:r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入力に誤りがあります。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168972" y="1143000"/>
            <a:ext cx="4565523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バッジ / タグ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168972" y="1463040"/>
            <a:ext cx="822960" cy="384048"/>
          </a:xfrm>
          <a:prstGeom prst="roundRect">
            <a:avLst>
              <a:gd name="adj" fmla="val 47619"/>
            </a:avLst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68972" y="146304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既定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101660" y="1463040"/>
            <a:ext cx="822960" cy="384048"/>
          </a:xfrm>
          <a:prstGeom prst="roundRect">
            <a:avLst>
              <a:gd name="adj" fmla="val 47619"/>
            </a:avLst>
          </a:prstGeom>
          <a:solidFill>
            <a:srgbClr val="0031D8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01660" y="146304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重要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034348" y="1463040"/>
            <a:ext cx="822960" cy="384048"/>
          </a:xfrm>
          <a:prstGeom prst="roundRect">
            <a:avLst>
              <a:gd name="adj" fmla="val 47619"/>
            </a:avLst>
          </a:prstGeom>
          <a:solidFill>
            <a:srgbClr val="E6F5EC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034348" y="146304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5A3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完了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967036" y="1463040"/>
            <a:ext cx="822960" cy="384048"/>
          </a:xfrm>
          <a:prstGeom prst="roundRect">
            <a:avLst>
              <a:gd name="adj" fmla="val 47619"/>
            </a:avLst>
          </a:prstGeom>
          <a:solidFill>
            <a:srgbClr val="FFEEE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967036" y="146304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C3E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進行中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10899724" y="1463040"/>
            <a:ext cx="822960" cy="384048"/>
          </a:xfrm>
          <a:prstGeom prst="roundRect">
            <a:avLst>
              <a:gd name="adj" fmla="val 47619"/>
            </a:avLst>
          </a:prstGeom>
          <a:solidFill>
            <a:srgbClr val="FDEEEE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899724" y="146304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E00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停止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168972" y="2103120"/>
            <a:ext cx="4565523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ボタン（主 / 副 / 第三）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168972" y="2468880"/>
            <a:ext cx="1051560" cy="457200"/>
          </a:xfrm>
          <a:prstGeom prst="roundRect">
            <a:avLst>
              <a:gd name="adj" fmla="val 12000"/>
            </a:avLst>
          </a:prstGeom>
          <a:solidFill>
            <a:srgbClr val="0031D8"/>
          </a:solidFill>
          <a:ln/>
        </p:spPr>
      </p:sp>
      <p:sp>
        <p:nvSpPr>
          <p:cNvPr id="30" name="Text 28"/>
          <p:cNvSpPr/>
          <p:nvPr/>
        </p:nvSpPr>
        <p:spPr>
          <a:xfrm>
            <a:off x="7168972" y="2468880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主要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357692" y="2468880"/>
            <a:ext cx="10515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31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57692" y="2468880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副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546412" y="2468880"/>
            <a:ext cx="10515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546412" y="2468880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第三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168972" y="3154680"/>
            <a:ext cx="4565523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区切り（.divider）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168972" y="3520440"/>
            <a:ext cx="4565523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7200" y="6126480"/>
            <a:ext cx="11277295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6181344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状態色は info/success/warning/error を意味づけトークンで色分け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17 / 20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0477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付録: </a:t>
            </a:r>
            <a:pPr algn="l" indent="0" marL="0">
              <a:buNone/>
            </a:pPr>
            <a:r>
              <a:rPr lang="en-US" sz="270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告知と手順</a:t>
            </a:r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の部品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3138"/>
            <a:ext cx="609905" cy="38405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508760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バナー（通知・緊急）— 全幅の告知帯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57200" y="1892808"/>
            <a:ext cx="11277295" cy="640080"/>
          </a:xfrm>
          <a:prstGeom prst="rect">
            <a:avLst/>
          </a:prstGeom>
          <a:solidFill>
            <a:srgbClr val="E8F1FE"/>
          </a:solidFill>
          <a:ln w="12700">
            <a:solidFill>
              <a:srgbClr val="0031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892808"/>
            <a:ext cx="108200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お知らせ  </a:t>
            </a:r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新しいテンプレートを公開しました。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670048"/>
            <a:ext cx="11277295" cy="640080"/>
          </a:xfrm>
          <a:prstGeom prst="rect">
            <a:avLst/>
          </a:prstGeom>
          <a:solidFill>
            <a:srgbClr val="FDEEEE"/>
          </a:solidFill>
          <a:ln w="12700">
            <a:solidFill>
              <a:srgbClr val="CE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670048"/>
            <a:ext cx="108200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E00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緊急  </a:t>
            </a:r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システム障害が発生しています。至急ご確認ください。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3630168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ステップナビゲーション（済 / 現在 / 未来）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4041648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4105656"/>
            <a:ext cx="329184" cy="329184"/>
          </a:xfrm>
          <a:prstGeom prst="ellipse">
            <a:avLst/>
          </a:prstGeom>
          <a:solidFill>
            <a:srgbClr val="0031D8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1056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50976" y="4041648"/>
            <a:ext cx="896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選ぶ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057400" y="4041648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E8F1FE"/>
          </a:solidFill>
          <a:ln/>
        </p:spPr>
      </p:sp>
      <p:sp>
        <p:nvSpPr>
          <p:cNvPr id="15" name="Shape 13"/>
          <p:cNvSpPr/>
          <p:nvPr/>
        </p:nvSpPr>
        <p:spPr>
          <a:xfrm>
            <a:off x="2148840" y="4105656"/>
            <a:ext cx="329184" cy="329184"/>
          </a:xfrm>
          <a:prstGeom prst="ellipse">
            <a:avLst/>
          </a:prstGeom>
          <a:solidFill>
            <a:srgbClr val="0031D8"/>
          </a:solidFill>
          <a:ln/>
        </p:spPr>
      </p:sp>
      <p:sp>
        <p:nvSpPr>
          <p:cNvPr id="16" name="Text 14"/>
          <p:cNvSpPr/>
          <p:nvPr/>
        </p:nvSpPr>
        <p:spPr>
          <a:xfrm>
            <a:off x="2148840" y="41056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551176" y="4041648"/>
            <a:ext cx="896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書く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57600" y="4041648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19" name="Shape 17"/>
          <p:cNvSpPr/>
          <p:nvPr/>
        </p:nvSpPr>
        <p:spPr>
          <a:xfrm>
            <a:off x="3749040" y="4105656"/>
            <a:ext cx="329184" cy="329184"/>
          </a:xfrm>
          <a:prstGeom prst="ellipse">
            <a:avLst/>
          </a:prstGeom>
          <a:solidFill>
            <a:srgbClr val="666666"/>
          </a:solidFill>
          <a:ln/>
        </p:spPr>
      </p:sp>
      <p:sp>
        <p:nvSpPr>
          <p:cNvPr id="20" name="Text 18"/>
          <p:cNvSpPr/>
          <p:nvPr/>
        </p:nvSpPr>
        <p:spPr>
          <a:xfrm>
            <a:off x="3749040" y="41056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151376" y="4041648"/>
            <a:ext cx="896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整える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257800" y="4041648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23" name="Shape 21"/>
          <p:cNvSpPr/>
          <p:nvPr/>
        </p:nvSpPr>
        <p:spPr>
          <a:xfrm>
            <a:off x="5349240" y="4105656"/>
            <a:ext cx="329184" cy="329184"/>
          </a:xfrm>
          <a:prstGeom prst="ellipse">
            <a:avLst/>
          </a:prstGeom>
          <a:solidFill>
            <a:srgbClr val="666666"/>
          </a:solidFill>
          <a:ln/>
        </p:spPr>
      </p:sp>
      <p:sp>
        <p:nvSpPr>
          <p:cNvPr id="24" name="Text 22"/>
          <p:cNvSpPr/>
          <p:nvPr/>
        </p:nvSpPr>
        <p:spPr>
          <a:xfrm>
            <a:off x="5349240" y="41056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751576" y="4041648"/>
            <a:ext cx="896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配る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" y="6126480"/>
            <a:ext cx="11277295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181344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バナー=通知/緊急、ステップナビ=済/現在/未来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18 / 20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0477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付録: </a:t>
            </a:r>
            <a:pPr algn="l" indent="0" marL="0">
              <a:buNone/>
            </a:pPr>
            <a:r>
              <a:rPr lang="en-US" sz="270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指標とまとめ</a:t>
            </a:r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の部品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3138"/>
            <a:ext cx="609905" cy="38405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648317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データテーブル（.data-table）</a:t>
            </a:r>
            <a:endParaRPr lang="en-US" sz="10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6483172" cy="914400"/>
        </p:xfrm>
        <a:graphic>
          <a:graphicData uri="http://schemas.openxmlformats.org/drawingml/2006/table">
            <a:tbl>
              <a:tblPr/>
              <a:tblGrid>
                <a:gridCol w="3739972"/>
                <a:gridCol w="914400"/>
                <a:gridCol w="91440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指標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1D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前月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1D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当月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1D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目標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1D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作成時間(h)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4.0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1.0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1.0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レビュー往復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2.0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1.4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1.5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準拠率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92%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98%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95%</a:t>
                      </a:r>
                      <a:endParaRPr lang="en-US" sz="10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127797" y="1143000"/>
            <a:ext cx="360669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プログレス（.progress）98%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127797" y="1463040"/>
            <a:ext cx="3606698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</p:sp>
      <p:sp>
        <p:nvSpPr>
          <p:cNvPr id="8" name="Shape 5"/>
          <p:cNvSpPr/>
          <p:nvPr/>
        </p:nvSpPr>
        <p:spPr>
          <a:xfrm>
            <a:off x="8127797" y="1463040"/>
            <a:ext cx="3534564" cy="256032"/>
          </a:xfrm>
          <a:prstGeom prst="roundRect">
            <a:avLst>
              <a:gd name="adj" fmla="val 50000"/>
            </a:avLst>
          </a:prstGeom>
          <a:solidFill>
            <a:srgbClr val="0031D8"/>
          </a:solidFill>
          <a:ln/>
        </p:spPr>
      </p:sp>
      <p:sp>
        <p:nvSpPr>
          <p:cNvPr id="9" name="Text 6"/>
          <p:cNvSpPr/>
          <p:nvPr/>
        </p:nvSpPr>
        <p:spPr>
          <a:xfrm>
            <a:off x="8127797" y="1965960"/>
            <a:ext cx="360669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統計（.stat）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127797" y="2286000"/>
            <a:ext cx="360669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75%</a:t>
            </a:r>
            <a:endParaRPr lang="en-US" sz="4800" dirty="0"/>
          </a:p>
        </p:txBody>
      </p:sp>
      <p:sp>
        <p:nvSpPr>
          <p:cNvPr id="11" name="Text 8"/>
          <p:cNvSpPr/>
          <p:nvPr/>
        </p:nvSpPr>
        <p:spPr>
          <a:xfrm>
            <a:off x="8127797" y="2971800"/>
            <a:ext cx="36066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作成時間 削減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57200" y="3931920"/>
            <a:ext cx="55243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チェックリスト（.checklist）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7200" y="42519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5A3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✓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777240" y="4251960"/>
            <a:ext cx="52043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トークン準拠（ハードコード0）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7200" y="4617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5A3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✓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777240" y="4617720"/>
            <a:ext cx="52043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WCAG 2.2 AA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7200" y="4983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5A3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✓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777240" y="4983480"/>
            <a:ext cx="52043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スライドへ差し込み可能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7168972" y="3931920"/>
            <a:ext cx="4565523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キーバリュー（.kv）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168972" y="42519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対象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32012" y="4251960"/>
            <a:ext cx="310248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全社（6部署）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7168972" y="46177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期間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8632012" y="4617720"/>
            <a:ext cx="310248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2026 Q3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7168972" y="49834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担当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8632012" y="4983480"/>
            <a:ext cx="310248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プロダクト戦略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457200" y="6126480"/>
            <a:ext cx="11277295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7200" y="6181344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数値は右寄せ・ストライプで可読性を確保（ネイティブ表）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19 / 20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0477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付録: </a:t>
            </a:r>
            <a:pPr algn="l" indent="0" marL="0">
              <a:buNone/>
            </a:pPr>
            <a:r>
              <a:rPr lang="en-US" sz="270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DADS 公式コンポーネント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3138"/>
            <a:ext cx="609905" cy="38405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55243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カード（.dads-card）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5524348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600200"/>
            <a:ext cx="5250028" cy="10058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600200"/>
            <a:ext cx="525002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画像プレースホルダ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31520" y="2697480"/>
            <a:ext cx="49757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地域緑化事業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3108960"/>
            <a:ext cx="497570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住民が参加できる地域緑化事業。地域交流の促進と景観美化を目的としています。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31520" y="3749040"/>
            <a:ext cx="49757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詳しくみる →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168972" y="1143000"/>
            <a:ext cx="4565523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チェックボックス（.dads-checkbox）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168972" y="146304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0031D8"/>
          </a:solidFill>
          <a:ln w="19050">
            <a:solidFill>
              <a:srgbClr val="0031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68972" y="14630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✓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534732" y="1463040"/>
            <a:ext cx="419976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足立区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168972" y="187452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9999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34732" y="1874520"/>
            <a:ext cx="419976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荒川区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168972" y="2194560"/>
            <a:ext cx="4565523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ラジオボタン（.dads-radio）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168972" y="2514600"/>
            <a:ext cx="256032" cy="256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31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32980" y="2578608"/>
            <a:ext cx="128016" cy="128016"/>
          </a:xfrm>
          <a:prstGeom prst="ellipse">
            <a:avLst/>
          </a:prstGeom>
          <a:solidFill>
            <a:srgbClr val="0031D8"/>
          </a:solidFill>
          <a:ln/>
        </p:spPr>
      </p:sp>
      <p:sp>
        <p:nvSpPr>
          <p:cNvPr id="20" name="Text 18"/>
          <p:cNvSpPr/>
          <p:nvPr/>
        </p:nvSpPr>
        <p:spPr>
          <a:xfrm>
            <a:off x="7534732" y="2514600"/>
            <a:ext cx="419976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足立区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168972" y="2926080"/>
            <a:ext cx="256032" cy="256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9999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534732" y="2926080"/>
            <a:ext cx="419976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荒川区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168972" y="3246120"/>
            <a:ext cx="4565523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パンくずリスト（.dads-breadcrumb）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168972" y="3566160"/>
            <a:ext cx="456552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ホーム</a:t>
            </a:r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 ＞  </a:t>
            </a:r>
            <a:pPr algn="l" indent="0" marL="0">
              <a:buNone/>
            </a:pPr>
            <a:r>
              <a:rPr lang="en-US" sz="1050" dirty="0">
                <a:solidFill>
                  <a:srgbClr val="0031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組織情報</a:t>
            </a:r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 ＞  </a:t>
            </a:r>
            <a:pPr algn="l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デザインシステムの導入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6126480"/>
            <a:ext cx="11277295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6181344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デジタル庁DS公式コンポーネントの体裁をネイティブ図形で近似（HTML付録G/Hに対応）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251323" y="91440"/>
            <a:ext cx="6483172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［公開範囲・機密区分を記入］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57200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2026 ［組織名を記入］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095848" y="6547104"/>
            <a:ext cx="563864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20 / 20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6E6E6"/>
      </a:lt2>
      <a:accent1>
        <a:srgbClr val="0031D8"/>
      </a:accent1>
      <a:accent2>
        <a:srgbClr val="0877D7"/>
      </a:accent2>
      <a:accent3>
        <a:srgbClr val="008299"/>
      </a:accent3>
      <a:accent4>
        <a:srgbClr val="1D8B56"/>
      </a:accent4>
      <a:accent5>
        <a:srgbClr val="E25100"/>
      </a:accent5>
      <a:accent6>
        <a:srgbClr val="FA0000"/>
      </a:accent6>
      <a:hlink>
        <a:srgbClr val="0563C1"/>
      </a:hlink>
      <a:folHlink>
        <a:srgbClr val="954F72"/>
      </a:folHlink>
    </a:clrScheme>
    <a:fontScheme name="Office">
      <a:majorFont>
        <a:latin typeface="Noto Sans JP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JP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2026-07-11T14:06:01Z</dcterms:created>
  <dcterms:modified xsi:type="dcterms:W3CDTF">2026-07-11T14:06:01Z</dcterms:modified>
</cp:coreProperties>
</file>