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2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値</c:v>
                </c:pt>
              </c:strCache>
            </c:strRef>
          </c:tx>
          <c:spPr>
            <a:solidFill>
              <a:srgbClr val="0031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基準</c:v>
                  </c:pt>
                  <c:pt idx="1">
                    <c:v>改善後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200</c:v>
                </c:pt>
                <c:pt idx="1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企画</c:v>
                </c:pt>
              </c:strCache>
            </c:strRef>
          </c:tx>
          <c:spPr>
            <a:solidFill>
              <a:srgbClr val="0031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100</c:v>
                </c:pt>
                <c:pt idx="2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開発</c:v>
                </c:pt>
              </c:strCache>
            </c:strRef>
          </c:tx>
          <c:spPr>
            <a:solidFill>
              <a:srgbClr val="0877D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120</c:v>
                </c:pt>
                <c:pt idx="1">
                  <c:v>150</c:v>
                </c:pt>
                <c:pt idx="2">
                  <c:v>180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運用</c:v>
                </c:pt>
              </c:strCache>
            </c:strRef>
          </c:tx>
          <c:spPr>
            <a:solidFill>
              <a:srgbClr val="0082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60</c:v>
                </c:pt>
                <c:pt idx="1">
                  <c:v>90</c:v>
                </c:pt>
                <c:pt idx="2">
                  <c:v>110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企画</c:v>
                </c:pt>
              </c:strCache>
            </c:strRef>
          </c:tx>
          <c:spPr>
            <a:solidFill>
              <a:srgbClr val="0031D8"/>
            </a:solidFill>
            <a:ln w="25400" cap="flat">
              <a:solidFill>
                <a:srgbClr val="0031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31D8"/>
              </a:solidFill>
              <a:ln w="9525" cap="flat">
                <a:solidFill>
                  <a:srgbClr val="0031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42</c:v>
                </c:pt>
                <c:pt idx="2">
                  <c:v>38</c:v>
                </c:pt>
                <c:pt idx="3">
                  <c:v>68</c:v>
                </c:pt>
                <c:pt idx="4">
                  <c:v>80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開発</c:v>
                </c:pt>
              </c:strCache>
            </c:strRef>
          </c:tx>
          <c:spPr>
            <a:solidFill>
              <a:srgbClr val="0877D7"/>
            </a:solidFill>
            <a:ln w="25400" cap="flat">
              <a:solidFill>
                <a:srgbClr val="0877D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877D7"/>
              </a:solidFill>
              <a:ln w="9525" cap="flat">
                <a:solidFill>
                  <a:srgbClr val="0877D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</c:v>
                </c:pt>
                <c:pt idx="1">
                  <c:v>20</c:v>
                </c:pt>
                <c:pt idx="2">
                  <c:v>32</c:v>
                </c:pt>
                <c:pt idx="3">
                  <c:v>36</c:v>
                </c:pt>
                <c:pt idx="4">
                  <c:v>50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運用</c:v>
                </c:pt>
              </c:strCache>
            </c:strRef>
          </c:tx>
          <c:spPr>
            <a:solidFill>
              <a:srgbClr val="008299"/>
            </a:solidFill>
            <a:ln w="25400" cap="flat">
              <a:solidFill>
                <a:srgbClr val="0082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8299"/>
              </a:solidFill>
              <a:ln w="9525" cap="flat">
                <a:solidFill>
                  <a:srgbClr val="0082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</c:v>
                </c:pt>
                <c:pt idx="1">
                  <c:v>12</c:v>
                </c:pt>
                <c:pt idx="2">
                  <c:v>16</c:v>
                </c:pt>
                <c:pt idx="3">
                  <c:v>18</c:v>
                </c:pt>
                <c:pt idx="4">
                  <c:v>24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企画</c:v>
                </c:pt>
              </c:strCache>
            </c:strRef>
          </c:tx>
          <c:spPr>
            <a:solidFill>
              <a:srgbClr val="0031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</c:v>
                </c:pt>
                <c:pt idx="1">
                  <c:v>48</c:v>
                </c:pt>
                <c:pt idx="2">
                  <c:v>30</c:v>
                </c:pt>
                <c:pt idx="3">
                  <c:v>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開発</c:v>
                </c:pt>
              </c:strCache>
            </c:strRef>
          </c:tx>
          <c:spPr>
            <a:solidFill>
              <a:srgbClr val="0877D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42</c:v>
                </c:pt>
                <c:pt idx="1">
                  <c:v>34</c:v>
                </c:pt>
                <c:pt idx="2">
                  <c:v>46</c:v>
                </c:pt>
                <c:pt idx="3">
                  <c:v>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運用</c:v>
                </c:pt>
              </c:strCache>
            </c:strRef>
          </c:tx>
          <c:spPr>
            <a:solidFill>
              <a:srgbClr val="0082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24</c:v>
                </c:pt>
                <c:pt idx="1">
                  <c:v>18</c:v>
                </c:pt>
                <c:pt idx="2">
                  <c:v>24</c:v>
                </c:pt>
                <c:pt idx="3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構成比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31D8"/>
              </a:solidFill>
              <a:effectLst/>
            </c:spPr>
          </c:dPt>
          <c:dPt>
            <c:idx val="1"/>
            <c:bubble3D val="0"/>
            <c:spPr>
              <a:solidFill>
                <a:srgbClr val="0877D7"/>
              </a:solidFill>
              <a:effectLst/>
            </c:spPr>
          </c:dPt>
          <c:dPt>
            <c:idx val="2"/>
            <c:bubble3D val="0"/>
            <c:spPr>
              <a:solidFill>
                <a:srgbClr val="00829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 55%</c:v>
                </c:pt>
                <c:pt idx="1">
                  <c:v>B 27%</c:v>
                </c:pt>
                <c:pt idx="2">
                  <c:v>C 18%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55</c:v>
                </c:pt>
                <c:pt idx="1">
                  <c:v>27</c:v>
                </c:pt>
                <c:pt idx="2">
                  <c:v>18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群A</c:v>
                </c:pt>
              </c:strCache>
            </c:strRef>
          </c:tx>
          <c:spPr>
            <a:solidFill>
              <a:srgbClr val="0031D8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0031D8"/>
              </a:solidFill>
              <a:ln w="9525" cap="flat">
                <a:solidFill>
                  <a:srgbClr val="0031D8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34</c:v>
                </c:pt>
                <c:pt idx="1">
                  <c:v>56</c:v>
                </c:pt>
                <c:pt idx="2">
                  <c:v>76</c:v>
                </c:pt>
                <c:pt idx="3">
                  <c:v>96</c:v>
                </c:pt>
                <c:pt idx="4">
                  <c:v>114</c:v>
                </c:pt>
                <c:pt idx="5">
                  <c:v>134</c:v>
                </c:pt>
                <c:pt idx="6">
                  <c:v>144</c:v>
                </c:pt>
                <c:pt idx="7">
                  <c:v>168</c:v>
                </c:pt>
                <c:pt idx="8">
                  <c:v>188</c:v>
                </c:pt>
                <c:pt idx="9">
                  <c:v>216</c:v>
                </c:pt>
                <c:pt idx="10">
                  <c:v>244</c:v>
                </c:pt>
                <c:pt idx="11">
                  <c:v>264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20</c:v>
                </c:pt>
                <c:pt idx="1">
                  <c:v>34</c:v>
                </c:pt>
                <c:pt idx="2">
                  <c:v>28</c:v>
                </c:pt>
                <c:pt idx="3">
                  <c:v>48</c:v>
                </c:pt>
                <c:pt idx="4">
                  <c:v>42</c:v>
                </c:pt>
                <c:pt idx="5">
                  <c:v>58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群B</c:v>
                </c:pt>
              </c:strCache>
            </c:strRef>
          </c:tx>
          <c:spPr>
            <a:solidFill>
              <a:srgbClr val="0877D7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0877D7"/>
              </a:solidFill>
              <a:ln w="9525" cap="flat">
                <a:solidFill>
                  <a:srgbClr val="0877D7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34</c:v>
                </c:pt>
                <c:pt idx="1">
                  <c:v>56</c:v>
                </c:pt>
                <c:pt idx="2">
                  <c:v>76</c:v>
                </c:pt>
                <c:pt idx="3">
                  <c:v>96</c:v>
                </c:pt>
                <c:pt idx="4">
                  <c:v>114</c:v>
                </c:pt>
                <c:pt idx="5">
                  <c:v>134</c:v>
                </c:pt>
                <c:pt idx="6">
                  <c:v>144</c:v>
                </c:pt>
                <c:pt idx="7">
                  <c:v>168</c:v>
                </c:pt>
                <c:pt idx="8">
                  <c:v>188</c:v>
                </c:pt>
                <c:pt idx="9">
                  <c:v>216</c:v>
                </c:pt>
                <c:pt idx="10">
                  <c:v>244</c:v>
                </c:pt>
                <c:pt idx="11">
                  <c:v>264</c:v>
                </c:pt>
              </c:numCache>
            </c:numRef>
          </c:xVal>
          <c:yVal>
            <c:numRef>
              <c:f>Sheet1!$C$2:$C$13</c:f>
              <c:numCache>
                <c:formatCode>General</c:formatCode>
                <c:ptCount val="12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>12</c:v>
                </c:pt>
                <c:pt idx="7">
                  <c:v>24</c:v>
                </c:pt>
                <c:pt idx="8">
                  <c:v>20</c:v>
                </c:pt>
                <c:pt idx="9">
                  <c:v>34</c:v>
                </c:pt>
                <c:pt idx="10">
                  <c:v>38</c:v>
                </c:pt>
                <c:pt idx="11">
                  <c:v>52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chart" Target="/ppt/charts/chart6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3880"/>
            <a:ext cx="9286921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各レイアウトが</a:t>
            </a:r>
            <a:pPr algn="l" indent="0" marL="0">
              <a:buNone/>
            </a:pP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自らの使い方を示すテンプレート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967789"/>
            <a:ext cx="5879043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デジタル庁DS準拠・このデック自体が使い方の見本です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6216091"/>
            <a:ext cx="11277570" cy="337048"/>
          </a:xfrm>
          <a:prstGeom prst="rect">
            <a:avLst/>
          </a:prstGeom>
          <a:ln/>
        </p:spPr>
      </p:sp>
      <p:sp>
        <p:nvSpPr>
          <p:cNvPr id="5" name="Shape 3"/>
          <p:cNvSpPr/>
          <p:nvPr/>
        </p:nvSpPr>
        <p:spPr>
          <a:xfrm>
            <a:off x="457200" y="6216091"/>
            <a:ext cx="11277570" cy="95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368522"/>
            <a:ext cx="830732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16レイアウト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16532" y="6368522"/>
            <a:ext cx="1100572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20コンポーネント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45796" y="6368522"/>
            <a:ext cx="889437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DS v2.0.1 準拠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106120" y="114300"/>
            <a:ext cx="9334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（組織名）限定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146170" y="312450"/>
            <a:ext cx="893460" cy="236190"/>
          </a:xfrm>
          <a:prstGeom prst="rect">
            <a:avLst>
              <a:gd name="adj" fmla="val 16144"/>
            </a:avLst>
          </a:prstGeom>
          <a:solidFill>
            <a:srgbClr val="FFEEE2"/>
          </a:solidFill>
          <a:ln/>
        </p:spPr>
        <p:txBody>
          <a:bodyPr wrap="square" lIns="38100" tIns="76200" rIns="76200" bIns="3810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C3E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機密性2情報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52430" y="6583680"/>
            <a:ext cx="1135868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（組織名）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705966" y="6583680"/>
            <a:ext cx="333665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 / 28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3880"/>
            <a:ext cx="5566776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</a:t>
            </a:r>
            <a:pPr algn="l" indent="0" marL="0">
              <a:buNone/>
            </a:pPr>
            <a:r>
              <a:rPr lang="en-US" sz="27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デック自体</a:t>
            </a:r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が使い方の見本です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55400"/>
            <a:ext cx="7442210" cy="542971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457200" y="1588770"/>
            <a:ext cx="744221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17341"/>
            <a:ext cx="211958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0570" y="1217341"/>
            <a:ext cx="1745772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レイアウトの選び方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788841"/>
            <a:ext cx="7442210" cy="542971"/>
          </a:xfrm>
          <a:prstGeom prst="rect">
            <a:avLst/>
          </a:prstGeom>
          <a:ln/>
        </p:spPr>
      </p:sp>
      <p:sp>
        <p:nvSpPr>
          <p:cNvPr id="8" name="Shape 6"/>
          <p:cNvSpPr/>
          <p:nvPr/>
        </p:nvSpPr>
        <p:spPr>
          <a:xfrm>
            <a:off x="457200" y="2322210"/>
            <a:ext cx="744221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50690"/>
            <a:ext cx="211958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90570" y="1950690"/>
            <a:ext cx="1727942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主張と根拠の書き方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522190"/>
            <a:ext cx="7442210" cy="542971"/>
          </a:xfrm>
          <a:prstGeom prst="rect">
            <a:avLst/>
          </a:prstGeom>
          <a:ln/>
        </p:spPr>
      </p:sp>
      <p:sp>
        <p:nvSpPr>
          <p:cNvPr id="12" name="Shape 10"/>
          <p:cNvSpPr/>
          <p:nvPr/>
        </p:nvSpPr>
        <p:spPr>
          <a:xfrm>
            <a:off x="457200" y="3055650"/>
            <a:ext cx="744221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84130"/>
            <a:ext cx="211958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90570" y="2684130"/>
            <a:ext cx="1351392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データの見せ方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255630"/>
            <a:ext cx="7442210" cy="542971"/>
          </a:xfrm>
          <a:prstGeom prst="rect">
            <a:avLst/>
          </a:prstGeom>
          <a:ln/>
        </p:spPr>
      </p:sp>
      <p:sp>
        <p:nvSpPr>
          <p:cNvPr id="16" name="Shape 14"/>
          <p:cNvSpPr/>
          <p:nvPr/>
        </p:nvSpPr>
        <p:spPr>
          <a:xfrm>
            <a:off x="457200" y="3788999"/>
            <a:ext cx="744221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17570"/>
            <a:ext cx="211958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90570" y="3417570"/>
            <a:ext cx="1741292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手順とスケジュール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989070"/>
            <a:ext cx="7442210" cy="542971"/>
          </a:xfrm>
          <a:prstGeom prst="rect">
            <a:avLst/>
          </a:prstGeom>
          <a:ln/>
        </p:spPr>
      </p:sp>
      <p:sp>
        <p:nvSpPr>
          <p:cNvPr id="20" name="Shape 18"/>
          <p:cNvSpPr/>
          <p:nvPr/>
        </p:nvSpPr>
        <p:spPr>
          <a:xfrm>
            <a:off x="457200" y="4522440"/>
            <a:ext cx="744221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151010"/>
            <a:ext cx="211958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90570" y="4151010"/>
            <a:ext cx="133795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出典と設計意図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06120" y="114300"/>
            <a:ext cx="9334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（組織名）限定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146170" y="312450"/>
            <a:ext cx="893460" cy="236190"/>
          </a:xfrm>
          <a:prstGeom prst="rect">
            <a:avLst>
              <a:gd name="adj" fmla="val 16144"/>
            </a:avLst>
          </a:prstGeom>
          <a:solidFill>
            <a:srgbClr val="FFEEE2"/>
          </a:solidFill>
          <a:ln/>
        </p:spPr>
        <p:txBody>
          <a:bodyPr wrap="square" lIns="38100" tIns="76200" rIns="76200" bIns="3810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C3E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機密性2情報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52430" y="6583680"/>
            <a:ext cx="1135868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（組織名）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705966" y="6583680"/>
            <a:ext cx="333665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 / 28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92690"/>
            <a:ext cx="1516898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SECTION 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3005999"/>
            <a:ext cx="433864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章扉レイアウト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947099"/>
            <a:ext cx="8401050" cy="365669"/>
          </a:xfrm>
          <a:prstGeom prst="rect">
            <a:avLst/>
          </a:prstGeom>
          <a:noFill/>
          <a:ln/>
        </p:spPr>
        <p:txBody>
          <a:bodyPr wrap="square" lIns="0" tIns="15240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章の変わり目で緩急をつけ、次章の主張を1文で予告する。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947099"/>
            <a:ext cx="38130" cy="365669"/>
          </a:xfrm>
          <a:prstGeom prst="rect">
            <a:avLst/>
          </a:prstGeom>
          <a:solidFill>
            <a:srgbClr val="0031D8"/>
          </a:solidFill>
          <a:ln/>
        </p:spPr>
      </p:sp>
      <p:sp>
        <p:nvSpPr>
          <p:cNvPr id="6" name="Text 4"/>
          <p:cNvSpPr/>
          <p:nvPr/>
        </p:nvSpPr>
        <p:spPr>
          <a:xfrm>
            <a:off x="11106120" y="114300"/>
            <a:ext cx="9334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（組織名）限定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146170" y="312450"/>
            <a:ext cx="893460" cy="236190"/>
          </a:xfrm>
          <a:prstGeom prst="rect">
            <a:avLst>
              <a:gd name="adj" fmla="val 16144"/>
            </a:avLst>
          </a:prstGeom>
          <a:solidFill>
            <a:srgbClr val="FFEEE2"/>
          </a:solidFill>
          <a:ln/>
        </p:spPr>
        <p:txBody>
          <a:bodyPr wrap="square" lIns="38100" tIns="76200" rIns="76200" bIns="3810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C3E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機密性2情報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52430" y="6583680"/>
            <a:ext cx="1135868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（組織名）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705966" y="6583680"/>
            <a:ext cx="333665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 / 28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3880"/>
            <a:ext cx="6922282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本文は</a:t>
            </a:r>
            <a:pPr algn="l" indent="0" marL="0">
              <a:buNone/>
            </a:pPr>
            <a:r>
              <a:rPr lang="en-US" sz="27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見出しに主張・本文に根拠</a:t>
            </a:r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を置きます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1103041"/>
            <a:ext cx="3973982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見出しは結論（アクションタイトル）を1文で</a:t>
            </a:r>
            <a:endParaRPr lang="en-US" sz="1350" dirty="0"/>
          </a:p>
          <a:p>
            <a:pPr algn="l" marL="190500" indent="-1905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本文は根拠を7項目以内の箇条書きで</a:t>
            </a:r>
            <a:endParaRPr lang="en-US" sz="1350" dirty="0"/>
          </a:p>
          <a:p>
            <a:pPr algn="l" marL="190500" indent="-1905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右の枠に図版やコンポーネントを差し込む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169079" y="1055400"/>
            <a:ext cx="4565599" cy="5046482"/>
          </a:xfrm>
          <a:prstGeom prst="roundRect">
            <a:avLst>
              <a:gd name="adj" fmla="val 1668"/>
            </a:avLst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1019" y="2995574"/>
            <a:ext cx="4241810" cy="1165769"/>
          </a:xfrm>
          <a:prstGeom prst="rect">
            <a:avLst>
              <a:gd name="adj" fmla="val 6534"/>
            </a:avLst>
          </a:prstGeom>
          <a:solidFill>
            <a:srgbClr val="E8F1FE"/>
          </a:solidFill>
          <a:ln/>
        </p:spPr>
        <p:txBody>
          <a:bodyPr wrap="square" lIns="152400" tIns="152400" rIns="152400" bIns="15240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コンポーネント差し込み例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.callout をスライド内にそのまま配置(グリッド非依存)。 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331019" y="2995574"/>
            <a:ext cx="38130" cy="1165769"/>
          </a:xfrm>
          <a:prstGeom prst="rect">
            <a:avLst/>
          </a:prstGeom>
          <a:solidFill>
            <a:srgbClr val="0031D8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6254222"/>
            <a:ext cx="11277387" cy="299009"/>
          </a:xfrm>
          <a:prstGeom prst="rect">
            <a:avLst/>
          </a:prstGeom>
          <a:ln/>
        </p:spPr>
      </p:sp>
      <p:sp>
        <p:nvSpPr>
          <p:cNvPr id="8" name="Shape 6"/>
          <p:cNvSpPr/>
          <p:nvPr/>
        </p:nvSpPr>
        <p:spPr>
          <a:xfrm>
            <a:off x="457200" y="6254222"/>
            <a:ext cx="11277387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368522"/>
            <a:ext cx="1959559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使い方: Assertion–Evidence 構造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106120" y="114300"/>
            <a:ext cx="9334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（組織名）限定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146170" y="312450"/>
            <a:ext cx="893460" cy="236190"/>
          </a:xfrm>
          <a:prstGeom prst="rect">
            <a:avLst>
              <a:gd name="adj" fmla="val 16144"/>
            </a:avLst>
          </a:prstGeom>
          <a:solidFill>
            <a:srgbClr val="FFEEE2"/>
          </a:solidFill>
          <a:ln/>
        </p:spPr>
        <p:txBody>
          <a:bodyPr wrap="square" lIns="38100" tIns="76200" rIns="76200" bIns="3810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C3E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機密性2情報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2430" y="6583680"/>
            <a:ext cx="1135868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（組織名）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705966" y="6583680"/>
            <a:ext cx="333665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 / 28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3880"/>
            <a:ext cx="5039624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比較は</a:t>
            </a:r>
            <a:pPr algn="l" indent="0" marL="0">
              <a:buNone/>
            </a:pPr>
            <a:r>
              <a:rPr lang="en-US" sz="27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2案を同一基準</a:t>
            </a:r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で並べます</a:t>
            </a:r>
            <a:endParaRPr lang="en-US" sz="2700" dirty="0"/>
          </a:p>
        </p:txBody>
      </p:sp>
      <p:grpSp>
        <p:nvGrpSpPr>
          <p:cNvPr id="23" name="DSGRP_0"/>
          <p:cNvGrpSpPr/>
          <p:nvPr/>
        </p:nvGrpSpPr>
        <p:grpSpPr>
          <a:xfrm>
            <a:off x="457200" y="1741200"/>
            <a:ext cx="5486400" cy="4360682"/>
            <a:chOff x="457200" y="1741200"/>
            <a:chExt cx="5486400" cy="4360682"/>
          </a:xfrm>
        </p:grpSpPr>
        <p:sp>
          <p:nvSpPr>
            <p:cNvPr id="3" name="DSGRP_0"/>
            <p:cNvSpPr/>
            <p:nvPr/>
          </p:nvSpPr>
          <p:spPr>
            <a:xfrm>
              <a:off x="457200" y="1741200"/>
              <a:ext cx="5486400" cy="4360682"/>
            </a:xfrm>
            <a:prstGeom prst="roundRect">
              <a:avLst>
                <a:gd name="adj" fmla="val 1747"/>
              </a:avLst>
            </a:prstGeom>
            <a:solidFill>
              <a:srgbClr val="F2F2F2"/>
            </a:solidFill>
            <a:ln w="9525">
              <a:solidFill>
                <a:srgbClr val="CCCCCC"/>
              </a:solidFill>
              <a:prstDash val="solid"/>
            </a:ln>
          </p:spPr>
        </p:sp>
        <p:sp>
          <p:nvSpPr>
            <p:cNvPr id="4" name="DSGRP_0"/>
            <p:cNvSpPr/>
            <p:nvPr/>
          </p:nvSpPr>
          <p:spPr>
            <a:xfrm>
              <a:off x="695310" y="2026950"/>
              <a:ext cx="1681764" cy="257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800" b="1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案A: 中立に記述</a:t>
              </a:r>
              <a:endParaRPr lang="en-US" sz="1800" dirty="0"/>
            </a:p>
          </p:txBody>
        </p:sp>
        <p:sp>
          <p:nvSpPr>
            <p:cNvPr id="5" name="DSGRP_0"/>
            <p:cNvSpPr/>
            <p:nvPr/>
          </p:nvSpPr>
          <p:spPr>
            <a:xfrm>
              <a:off x="923910" y="2497318"/>
              <a:ext cx="1559143" cy="190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350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見出しに案名を置く</a:t>
              </a:r>
              <a:endParaRPr lang="en-US" sz="1350" dirty="0"/>
            </a:p>
          </p:txBody>
        </p:sp>
        <p:sp>
          <p:nvSpPr>
            <p:cNvPr id="6" name="DSGRP_0"/>
            <p:cNvSpPr/>
            <p:nvPr/>
          </p:nvSpPr>
          <p:spPr>
            <a:xfrm>
              <a:off x="923910" y="2923977"/>
              <a:ext cx="1726570" cy="190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350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箇条書きで特徴を対比</a:t>
              </a:r>
              <a:endParaRPr lang="en-US" sz="1350" dirty="0"/>
            </a:p>
          </p:txBody>
        </p:sp>
        <p:sp>
          <p:nvSpPr>
            <p:cNvPr id="7" name="DSGRP_0"/>
            <p:cNvSpPr/>
            <p:nvPr/>
          </p:nvSpPr>
          <p:spPr>
            <a:xfrm>
              <a:off x="923910" y="3350727"/>
              <a:ext cx="869320" cy="190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350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誇張しない</a:t>
              </a:r>
              <a:endParaRPr lang="en-US" sz="1350" dirty="0"/>
            </a:p>
          </p:txBody>
        </p:sp>
      </p:grpSp>
      <p:grpSp>
        <p:nvGrpSpPr>
          <p:cNvPr id="24" name="DSGRP_1"/>
          <p:cNvGrpSpPr/>
          <p:nvPr/>
        </p:nvGrpSpPr>
        <p:grpSpPr>
          <a:xfrm>
            <a:off x="6248370" y="1741200"/>
            <a:ext cx="5486400" cy="4360682"/>
            <a:chOff x="6248370" y="1741200"/>
            <a:chExt cx="5486400" cy="4360682"/>
          </a:xfrm>
        </p:grpSpPr>
        <p:sp>
          <p:nvSpPr>
            <p:cNvPr id="8" name="DSGRP_1"/>
            <p:cNvSpPr/>
            <p:nvPr/>
          </p:nvSpPr>
          <p:spPr>
            <a:xfrm>
              <a:off x="6248370" y="1741200"/>
              <a:ext cx="5486400" cy="4360682"/>
            </a:xfrm>
            <a:prstGeom prst="roundRect">
              <a:avLst>
                <a:gd name="adj" fmla="val 1747"/>
              </a:avLst>
            </a:prstGeom>
            <a:solidFill>
              <a:srgbClr val="F2F2F2"/>
            </a:solidFill>
            <a:ln/>
          </p:spPr>
        </p:sp>
        <p:sp>
          <p:nvSpPr>
            <p:cNvPr id="9" name="DSGRP_1"/>
            <p:cNvSpPr/>
            <p:nvPr/>
          </p:nvSpPr>
          <p:spPr>
            <a:xfrm>
              <a:off x="6248370" y="1741200"/>
              <a:ext cx="5486400" cy="38130"/>
            </a:xfrm>
            <a:prstGeom prst="rect">
              <a:avLst/>
            </a:prstGeom>
            <a:solidFill>
              <a:srgbClr val="0031D8"/>
            </a:solidFill>
            <a:ln/>
          </p:spPr>
        </p:sp>
        <p:sp>
          <p:nvSpPr>
            <p:cNvPr id="10" name="DSGRP_1"/>
            <p:cNvSpPr/>
            <p:nvPr/>
          </p:nvSpPr>
          <p:spPr>
            <a:xfrm>
              <a:off x="6486571" y="2055480"/>
              <a:ext cx="1681764" cy="257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800" b="1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案B: 推奨を強調</a:t>
              </a:r>
              <a:endParaRPr lang="en-US" sz="1800" dirty="0"/>
            </a:p>
          </p:txBody>
        </p:sp>
        <p:sp>
          <p:nvSpPr>
            <p:cNvPr id="11" name="DSGRP_1"/>
            <p:cNvSpPr/>
            <p:nvPr/>
          </p:nvSpPr>
          <p:spPr>
            <a:xfrm>
              <a:off x="6715171" y="2525939"/>
              <a:ext cx="1761043" cy="190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350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accent 枠で推奨を明示</a:t>
              </a:r>
              <a:endParaRPr lang="en-US" sz="1350" dirty="0"/>
            </a:p>
          </p:txBody>
        </p:sp>
        <p:sp>
          <p:nvSpPr>
            <p:cNvPr id="12" name="DSGRP_1"/>
            <p:cNvSpPr/>
            <p:nvPr/>
          </p:nvSpPr>
          <p:spPr>
            <a:xfrm>
              <a:off x="6715171" y="2952598"/>
              <a:ext cx="1738640" cy="190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350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デフォルト効果を活用</a:t>
              </a:r>
              <a:endParaRPr lang="en-US" sz="1350" dirty="0"/>
            </a:p>
          </p:txBody>
        </p:sp>
        <p:sp>
          <p:nvSpPr>
            <p:cNvPr id="13" name="DSGRP_1"/>
            <p:cNvSpPr/>
            <p:nvPr/>
          </p:nvSpPr>
          <p:spPr>
            <a:xfrm>
              <a:off x="6715171" y="3379257"/>
              <a:ext cx="1303569" cy="190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350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3項目以内に絞る</a:t>
              </a:r>
              <a:endParaRPr lang="en-US" sz="1350" dirty="0"/>
            </a:p>
          </p:txBody>
        </p:sp>
      </p:grpSp>
      <p:sp>
        <p:nvSpPr>
          <p:cNvPr id="14" name="Text 12"/>
          <p:cNvSpPr/>
          <p:nvPr/>
        </p:nvSpPr>
        <p:spPr>
          <a:xfrm>
            <a:off x="457200" y="1055400"/>
            <a:ext cx="11277570" cy="533370"/>
          </a:xfrm>
          <a:prstGeom prst="rect">
            <a:avLst>
              <a:gd name="adj" fmla="val 14281"/>
            </a:avLst>
          </a:prstGeom>
          <a:solidFill>
            <a:srgbClr val="E8F1FE"/>
          </a:solidFill>
          <a:ln/>
        </p:spPr>
        <p:txBody>
          <a:bodyPr wrap="square" lIns="114300" tIns="152400" rIns="152400" bIns="1143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結論（推奨案）を先頭に置き、根拠を下に並べる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1055400"/>
            <a:ext cx="38130" cy="533370"/>
          </a:xfrm>
          <a:prstGeom prst="rect">
            <a:avLst/>
          </a:prstGeom>
          <a:solidFill>
            <a:srgbClr val="0031D8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6254222"/>
            <a:ext cx="11277570" cy="299009"/>
          </a:xfrm>
          <a:prstGeom prst="rect">
            <a:avLst/>
          </a:prstGeom>
          <a:ln/>
        </p:spPr>
      </p:sp>
      <p:sp>
        <p:nvSpPr>
          <p:cNvPr id="17" name="Shape 15"/>
          <p:cNvSpPr/>
          <p:nvPr/>
        </p:nvSpPr>
        <p:spPr>
          <a:xfrm>
            <a:off x="457200" y="6254222"/>
            <a:ext cx="1127757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368522"/>
            <a:ext cx="1905792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使い方: フレーミング / C.R.A.P.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106120" y="114300"/>
            <a:ext cx="9334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（組織名）限定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146170" y="312450"/>
            <a:ext cx="893460" cy="236190"/>
          </a:xfrm>
          <a:prstGeom prst="rect">
            <a:avLst>
              <a:gd name="adj" fmla="val 16144"/>
            </a:avLst>
          </a:prstGeom>
          <a:solidFill>
            <a:srgbClr val="FFEEE2"/>
          </a:solidFill>
          <a:ln/>
        </p:spPr>
        <p:txBody>
          <a:bodyPr wrap="square" lIns="38100" tIns="76200" rIns="76200" bIns="3810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C3E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機密性2情報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52430" y="6583680"/>
            <a:ext cx="1135868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（組織名）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705966" y="6583680"/>
            <a:ext cx="333665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 / 28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3880"/>
            <a:ext cx="6587429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図表は</a:t>
            </a:r>
            <a:pPr algn="l" indent="0" marL="0">
              <a:buNone/>
            </a:pPr>
            <a:r>
              <a:rPr lang="en-US" sz="27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基準値を先に</a:t>
            </a:r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示して解釈を助けます</a:t>
            </a:r>
            <a:endParaRPr lang="en-US" sz="27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5400"/>
          <a:ext cx="7442210" cy="504648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8128010" y="1103041"/>
            <a:ext cx="1054395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例: 75%減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128010" y="1573408"/>
            <a:ext cx="3381085" cy="46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基準値を左に置き、差分の意味を1文で添える。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57200" y="6254222"/>
            <a:ext cx="11277387" cy="299009"/>
          </a:xfrm>
          <a:prstGeom prst="rect">
            <a:avLst/>
          </a:prstGeom>
          <a:ln/>
        </p:spPr>
      </p:sp>
      <p:sp>
        <p:nvSpPr>
          <p:cNvPr id="7" name="Shape 4"/>
          <p:cNvSpPr/>
          <p:nvPr/>
        </p:nvSpPr>
        <p:spPr>
          <a:xfrm>
            <a:off x="457200" y="6254222"/>
            <a:ext cx="11277387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6368522"/>
            <a:ext cx="2441814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使い方: Cleveland–McGill / データインク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106120" y="114300"/>
            <a:ext cx="9334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（組織名）限定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1146170" y="312450"/>
            <a:ext cx="893460" cy="236190"/>
          </a:xfrm>
          <a:prstGeom prst="rect">
            <a:avLst>
              <a:gd name="adj" fmla="val 16144"/>
            </a:avLst>
          </a:prstGeom>
          <a:solidFill>
            <a:srgbClr val="FFEEE2"/>
          </a:solidFill>
          <a:ln/>
        </p:spPr>
        <p:txBody>
          <a:bodyPr wrap="square" lIns="38100" tIns="76200" rIns="76200" bIns="3810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C3E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機密性2情報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52430" y="6583680"/>
            <a:ext cx="1135868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（組織名）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1705966" y="6583680"/>
            <a:ext cx="333665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 / 28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3880"/>
            <a:ext cx="4027018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まとめは</a:t>
            </a:r>
            <a:pPr algn="l" indent="0" marL="0">
              <a:buNone/>
            </a:pPr>
            <a:r>
              <a:rPr lang="en-US" sz="27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3点</a:t>
            </a:r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に凝縮します</a:t>
            </a:r>
            <a:endParaRPr lang="en-US" sz="2700" dirty="0"/>
          </a:p>
        </p:txBody>
      </p:sp>
      <p:grpSp>
        <p:nvGrpSpPr>
          <p:cNvPr id="20" name="DSGRP_2"/>
          <p:cNvGrpSpPr/>
          <p:nvPr/>
        </p:nvGrpSpPr>
        <p:grpSpPr>
          <a:xfrm>
            <a:off x="457200" y="1055400"/>
            <a:ext cx="3556010" cy="4735860"/>
            <a:chOff x="457200" y="1055400"/>
            <a:chExt cx="3556010" cy="4735860"/>
          </a:xfrm>
        </p:grpSpPr>
        <p:sp>
          <p:nvSpPr>
            <p:cNvPr id="3" name="DSGRP_2"/>
            <p:cNvSpPr/>
            <p:nvPr/>
          </p:nvSpPr>
          <p:spPr>
            <a:xfrm>
              <a:off x="457200" y="1055400"/>
              <a:ext cx="3556010" cy="4735860"/>
            </a:xfrm>
            <a:prstGeom prst="roundRect">
              <a:avLst>
                <a:gd name="adj" fmla="val 2142"/>
              </a:avLst>
            </a:prstGeom>
            <a:solidFill>
              <a:srgbClr val="F2F2F2"/>
            </a:solidFill>
            <a:ln/>
          </p:spPr>
        </p:sp>
        <p:sp>
          <p:nvSpPr>
            <p:cNvPr id="4" name="DSGRP_2"/>
            <p:cNvSpPr/>
            <p:nvPr/>
          </p:nvSpPr>
          <p:spPr>
            <a:xfrm>
              <a:off x="457200" y="1055400"/>
              <a:ext cx="3556010" cy="38130"/>
            </a:xfrm>
            <a:prstGeom prst="rect">
              <a:avLst/>
            </a:prstGeom>
            <a:solidFill>
              <a:srgbClr val="0031D8"/>
            </a:solidFill>
            <a:ln/>
          </p:spPr>
        </p:sp>
        <p:sp>
          <p:nvSpPr>
            <p:cNvPr id="5" name="DSGRP_2"/>
            <p:cNvSpPr/>
            <p:nvPr/>
          </p:nvSpPr>
          <p:spPr>
            <a:xfrm>
              <a:off x="685800" y="1331641"/>
              <a:ext cx="190744" cy="3905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2700" b="1" dirty="0">
                  <a:solidFill>
                    <a:srgbClr val="0031D8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1</a:t>
              </a:r>
              <a:endParaRPr lang="en-US" sz="2700" dirty="0"/>
            </a:p>
          </p:txBody>
        </p:sp>
        <p:sp>
          <p:nvSpPr>
            <p:cNvPr id="6" name="DSGRP_2"/>
            <p:cNvSpPr/>
            <p:nvPr/>
          </p:nvSpPr>
          <p:spPr>
            <a:xfrm>
              <a:off x="685800" y="1885767"/>
              <a:ext cx="1399672" cy="190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350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レイアウトを選ぶ</a:t>
              </a:r>
              <a:endParaRPr lang="en-US" sz="1350" dirty="0"/>
            </a:p>
          </p:txBody>
        </p:sp>
      </p:grpSp>
      <p:grpSp>
        <p:nvGrpSpPr>
          <p:cNvPr id="21" name="DSGRP_3"/>
          <p:cNvGrpSpPr/>
          <p:nvPr/>
        </p:nvGrpSpPr>
        <p:grpSpPr>
          <a:xfrm>
            <a:off x="4317980" y="1055400"/>
            <a:ext cx="3556010" cy="4735860"/>
            <a:chOff x="4317980" y="1055400"/>
            <a:chExt cx="3556010" cy="4735860"/>
          </a:xfrm>
        </p:grpSpPr>
        <p:sp>
          <p:nvSpPr>
            <p:cNvPr id="7" name="DSGRP_3"/>
            <p:cNvSpPr/>
            <p:nvPr/>
          </p:nvSpPr>
          <p:spPr>
            <a:xfrm>
              <a:off x="4317980" y="1055400"/>
              <a:ext cx="3556010" cy="4735860"/>
            </a:xfrm>
            <a:prstGeom prst="roundRect">
              <a:avLst>
                <a:gd name="adj" fmla="val 2142"/>
              </a:avLst>
            </a:prstGeom>
            <a:solidFill>
              <a:srgbClr val="F2F2F2"/>
            </a:solidFill>
            <a:ln/>
          </p:spPr>
        </p:sp>
        <p:sp>
          <p:nvSpPr>
            <p:cNvPr id="8" name="DSGRP_3"/>
            <p:cNvSpPr/>
            <p:nvPr/>
          </p:nvSpPr>
          <p:spPr>
            <a:xfrm>
              <a:off x="4317980" y="1055400"/>
              <a:ext cx="3556010" cy="38130"/>
            </a:xfrm>
            <a:prstGeom prst="rect">
              <a:avLst/>
            </a:prstGeom>
            <a:solidFill>
              <a:srgbClr val="0031D8"/>
            </a:solidFill>
            <a:ln/>
          </p:spPr>
        </p:sp>
        <p:sp>
          <p:nvSpPr>
            <p:cNvPr id="9" name="DSGRP_3"/>
            <p:cNvSpPr/>
            <p:nvPr/>
          </p:nvSpPr>
          <p:spPr>
            <a:xfrm>
              <a:off x="4546580" y="1331641"/>
              <a:ext cx="190744" cy="3905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2700" b="1" dirty="0">
                  <a:solidFill>
                    <a:srgbClr val="0031D8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2</a:t>
              </a:r>
              <a:endParaRPr lang="en-US" sz="2700" dirty="0"/>
            </a:p>
          </p:txBody>
        </p:sp>
        <p:sp>
          <p:nvSpPr>
            <p:cNvPr id="10" name="DSGRP_3"/>
            <p:cNvSpPr/>
            <p:nvPr/>
          </p:nvSpPr>
          <p:spPr>
            <a:xfrm>
              <a:off x="4546580" y="1885767"/>
              <a:ext cx="1555120" cy="190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350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役割変数に差し込む</a:t>
              </a:r>
              <a:endParaRPr lang="en-US" sz="1350" dirty="0"/>
            </a:p>
          </p:txBody>
        </p:sp>
      </p:grpSp>
      <p:grpSp>
        <p:nvGrpSpPr>
          <p:cNvPr id="22" name="DSGRP_4"/>
          <p:cNvGrpSpPr/>
          <p:nvPr/>
        </p:nvGrpSpPr>
        <p:grpSpPr>
          <a:xfrm>
            <a:off x="8178759" y="1055400"/>
            <a:ext cx="3556102" cy="4735860"/>
            <a:chOff x="8178759" y="1055400"/>
            <a:chExt cx="3556102" cy="4735860"/>
          </a:xfrm>
        </p:grpSpPr>
        <p:sp>
          <p:nvSpPr>
            <p:cNvPr id="11" name="DSGRP_4"/>
            <p:cNvSpPr/>
            <p:nvPr/>
          </p:nvSpPr>
          <p:spPr>
            <a:xfrm>
              <a:off x="8178759" y="1055400"/>
              <a:ext cx="3556102" cy="4735860"/>
            </a:xfrm>
            <a:prstGeom prst="roundRect">
              <a:avLst>
                <a:gd name="adj" fmla="val 2142"/>
              </a:avLst>
            </a:prstGeom>
            <a:solidFill>
              <a:srgbClr val="F2F2F2"/>
            </a:solidFill>
            <a:ln/>
          </p:spPr>
        </p:sp>
        <p:sp>
          <p:nvSpPr>
            <p:cNvPr id="12" name="DSGRP_4"/>
            <p:cNvSpPr/>
            <p:nvPr/>
          </p:nvSpPr>
          <p:spPr>
            <a:xfrm>
              <a:off x="8178759" y="1055400"/>
              <a:ext cx="3556102" cy="38130"/>
            </a:xfrm>
            <a:prstGeom prst="rect">
              <a:avLst/>
            </a:prstGeom>
            <a:solidFill>
              <a:srgbClr val="0031D8"/>
            </a:solidFill>
            <a:ln/>
          </p:spPr>
        </p:sp>
        <p:sp>
          <p:nvSpPr>
            <p:cNvPr id="13" name="DSGRP_4"/>
            <p:cNvSpPr/>
            <p:nvPr/>
          </p:nvSpPr>
          <p:spPr>
            <a:xfrm>
              <a:off x="8407359" y="1331641"/>
              <a:ext cx="190744" cy="3905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2700" b="1" dirty="0">
                  <a:solidFill>
                    <a:srgbClr val="0031D8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3</a:t>
              </a:r>
              <a:endParaRPr lang="en-US" sz="2700" dirty="0"/>
            </a:p>
          </p:txBody>
        </p:sp>
        <p:sp>
          <p:nvSpPr>
            <p:cNvPr id="14" name="DSGRP_4"/>
            <p:cNvSpPr/>
            <p:nvPr/>
          </p:nvSpPr>
          <p:spPr>
            <a:xfrm>
              <a:off x="8407359" y="1885767"/>
              <a:ext cx="1602852" cy="190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350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印刷/PDFで出力する</a:t>
              </a:r>
              <a:endParaRPr lang="en-US" sz="1350" dirty="0"/>
            </a:p>
          </p:txBody>
        </p:sp>
      </p:grpSp>
      <p:sp>
        <p:nvSpPr>
          <p:cNvPr id="15" name="Text 13"/>
          <p:cNvSpPr/>
          <p:nvPr/>
        </p:nvSpPr>
        <p:spPr>
          <a:xfrm>
            <a:off x="457200" y="5943600"/>
            <a:ext cx="11277570" cy="609630"/>
          </a:xfrm>
          <a:prstGeom prst="rect">
            <a:avLst>
              <a:gd name="adj" fmla="val 12494"/>
            </a:avLst>
          </a:prstGeom>
          <a:solidFill>
            <a:srgbClr val="0031D8"/>
          </a:solidFill>
          <a:ln/>
        </p:spPr>
        <p:txBody>
          <a:bodyPr wrap="square" lIns="152400" tIns="228600" rIns="228600" bIns="1524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使い方: この3手順でスライドを作り始めてください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06120" y="114300"/>
            <a:ext cx="9334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（組織名）限定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146170" y="312450"/>
            <a:ext cx="893460" cy="236190"/>
          </a:xfrm>
          <a:prstGeom prst="rect">
            <a:avLst>
              <a:gd name="adj" fmla="val 16144"/>
            </a:avLst>
          </a:prstGeom>
          <a:solidFill>
            <a:srgbClr val="FFEEE2"/>
          </a:solidFill>
          <a:ln/>
        </p:spPr>
        <p:txBody>
          <a:bodyPr wrap="square" lIns="38100" tIns="76200" rIns="76200" bIns="3810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C3E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機密性2情報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52430" y="6583680"/>
            <a:ext cx="1135868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（組織名）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705966" y="6583680"/>
            <a:ext cx="333665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 / 28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3880"/>
            <a:ext cx="7839060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ビッグナンバーは</a:t>
            </a:r>
            <a:pPr algn="l" indent="0" marL="0">
              <a:buNone/>
            </a:pPr>
            <a:r>
              <a:rPr lang="en-US" sz="27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単一指標</a:t>
            </a:r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を大きく1点強調します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2739177"/>
            <a:ext cx="3146725" cy="1219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16</a:t>
            </a:r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レイアウト</a:t>
            </a:r>
            <a:endParaRPr lang="en-US" sz="8640" dirty="0"/>
          </a:p>
        </p:txBody>
      </p:sp>
      <p:sp>
        <p:nvSpPr>
          <p:cNvPr id="4" name="Text 2"/>
          <p:cNvSpPr/>
          <p:nvPr/>
        </p:nvSpPr>
        <p:spPr>
          <a:xfrm>
            <a:off x="457200" y="4208252"/>
            <a:ext cx="356424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内訳: コア </a:t>
            </a:r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</a:t>
            </a:r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+ 拡張 </a:t>
            </a:r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</a:t>
            </a:r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= </a:t>
            </a:r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16</a:t>
            </a:r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（用途で選ぶ）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6254222"/>
            <a:ext cx="11277570" cy="299009"/>
          </a:xfrm>
          <a:prstGeom prst="rect">
            <a:avLst/>
          </a:prstGeom>
          <a:ln/>
        </p:spPr>
      </p:sp>
      <p:sp>
        <p:nvSpPr>
          <p:cNvPr id="6" name="Shape 4"/>
          <p:cNvSpPr/>
          <p:nvPr/>
        </p:nvSpPr>
        <p:spPr>
          <a:xfrm>
            <a:off x="457200" y="6254222"/>
            <a:ext cx="1127757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368522"/>
            <a:ext cx="2151309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使い方: 強調は1箇所 / アンカリング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106120" y="114300"/>
            <a:ext cx="9334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（組織名）限定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146170" y="312450"/>
            <a:ext cx="893460" cy="236190"/>
          </a:xfrm>
          <a:prstGeom prst="rect">
            <a:avLst>
              <a:gd name="adj" fmla="val 16144"/>
            </a:avLst>
          </a:prstGeom>
          <a:solidFill>
            <a:srgbClr val="FFEEE2"/>
          </a:solidFill>
          <a:ln/>
        </p:spPr>
        <p:txBody>
          <a:bodyPr wrap="square" lIns="38100" tIns="76200" rIns="76200" bIns="3810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C3E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機密性2情報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52430" y="6583680"/>
            <a:ext cx="1135868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（組織名）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705966" y="6583680"/>
            <a:ext cx="333665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 / 28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3880"/>
            <a:ext cx="7031096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ダッシュボードは</a:t>
            </a:r>
            <a:pPr algn="l" indent="0" marL="0">
              <a:buNone/>
            </a:pPr>
            <a:r>
              <a:rPr lang="en-US" sz="27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6件以内</a:t>
            </a:r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のKPIを整列します</a:t>
            </a:r>
            <a:endParaRPr lang="en-US" sz="2700" dirty="0"/>
          </a:p>
        </p:txBody>
      </p:sp>
      <p:grpSp>
        <p:nvGrpSpPr>
          <p:cNvPr id="35" name="DSGRP_5"/>
          <p:cNvGrpSpPr/>
          <p:nvPr/>
        </p:nvGrpSpPr>
        <p:grpSpPr>
          <a:xfrm>
            <a:off x="457200" y="1055400"/>
            <a:ext cx="3657600" cy="2461382"/>
            <a:chOff x="457200" y="1055400"/>
            <a:chExt cx="3657600" cy="2461382"/>
          </a:xfrm>
        </p:grpSpPr>
        <p:sp>
          <p:nvSpPr>
            <p:cNvPr id="3" name="DSGRP_5"/>
            <p:cNvSpPr/>
            <p:nvPr/>
          </p:nvSpPr>
          <p:spPr>
            <a:xfrm>
              <a:off x="457200" y="1055400"/>
              <a:ext cx="3657600" cy="2461382"/>
            </a:xfrm>
            <a:prstGeom prst="roundRect">
              <a:avLst>
                <a:gd name="adj" fmla="val 3095"/>
              </a:avLst>
            </a:prstGeom>
            <a:solidFill>
              <a:srgbClr val="F2F2F2"/>
            </a:solidFill>
            <a:ln w="9525">
              <a:solidFill>
                <a:srgbClr val="CCCCCC"/>
              </a:solidFill>
              <a:prstDash val="solid"/>
            </a:ln>
          </p:spPr>
        </p:sp>
        <p:sp>
          <p:nvSpPr>
            <p:cNvPr id="4" name="DSGRP_5"/>
            <p:cNvSpPr/>
            <p:nvPr/>
          </p:nvSpPr>
          <p:spPr>
            <a:xfrm>
              <a:off x="619140" y="1857604"/>
              <a:ext cx="682325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レイアウト</a:t>
              </a:r>
              <a:endParaRPr lang="en-US" sz="1050" dirty="0"/>
            </a:p>
          </p:txBody>
        </p:sp>
        <p:sp>
          <p:nvSpPr>
            <p:cNvPr id="5" name="DSGRP_5"/>
            <p:cNvSpPr/>
            <p:nvPr/>
          </p:nvSpPr>
          <p:spPr>
            <a:xfrm>
              <a:off x="619140" y="2089861"/>
              <a:ext cx="381488" cy="3905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2700" b="1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16</a:t>
              </a:r>
              <a:endParaRPr lang="en-US" sz="2700" dirty="0"/>
            </a:p>
          </p:txBody>
        </p:sp>
        <p:sp>
          <p:nvSpPr>
            <p:cNvPr id="6" name="DSGRP_5"/>
            <p:cNvSpPr/>
            <p:nvPr/>
          </p:nvSpPr>
          <p:spPr>
            <a:xfrm>
              <a:off x="619140" y="2558308"/>
              <a:ext cx="765901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コア8+拡張8</a:t>
              </a:r>
              <a:endParaRPr lang="en-US" sz="1050" dirty="0"/>
            </a:p>
          </p:txBody>
        </p:sp>
      </p:grpSp>
      <p:grpSp>
        <p:nvGrpSpPr>
          <p:cNvPr id="36" name="DSGRP_6"/>
          <p:cNvGrpSpPr/>
          <p:nvPr/>
        </p:nvGrpSpPr>
        <p:grpSpPr>
          <a:xfrm>
            <a:off x="4267230" y="1055400"/>
            <a:ext cx="3657600" cy="2461382"/>
            <a:chOff x="4267230" y="1055400"/>
            <a:chExt cx="3657600" cy="2461382"/>
          </a:xfrm>
        </p:grpSpPr>
        <p:sp>
          <p:nvSpPr>
            <p:cNvPr id="7" name="DSGRP_6"/>
            <p:cNvSpPr/>
            <p:nvPr/>
          </p:nvSpPr>
          <p:spPr>
            <a:xfrm>
              <a:off x="4267230" y="1055400"/>
              <a:ext cx="3657600" cy="2461382"/>
            </a:xfrm>
            <a:prstGeom prst="roundRect">
              <a:avLst>
                <a:gd name="adj" fmla="val 3095"/>
              </a:avLst>
            </a:prstGeom>
            <a:solidFill>
              <a:srgbClr val="F2F2F2"/>
            </a:solidFill>
            <a:ln/>
          </p:spPr>
        </p:sp>
        <p:sp>
          <p:nvSpPr>
            <p:cNvPr id="8" name="DSGRP_6"/>
            <p:cNvSpPr/>
            <p:nvPr/>
          </p:nvSpPr>
          <p:spPr>
            <a:xfrm>
              <a:off x="4267230" y="1055400"/>
              <a:ext cx="3657600" cy="38130"/>
            </a:xfrm>
            <a:prstGeom prst="rect">
              <a:avLst/>
            </a:prstGeom>
            <a:solidFill>
              <a:srgbClr val="0031D8"/>
            </a:solidFill>
            <a:ln/>
          </p:spPr>
        </p:sp>
        <p:sp>
          <p:nvSpPr>
            <p:cNvPr id="9" name="DSGRP_6"/>
            <p:cNvSpPr/>
            <p:nvPr/>
          </p:nvSpPr>
          <p:spPr>
            <a:xfrm>
              <a:off x="4429171" y="1871868"/>
              <a:ext cx="952256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コンポーネント</a:t>
              </a:r>
              <a:endParaRPr lang="en-US" sz="1050" dirty="0"/>
            </a:p>
          </p:txBody>
        </p:sp>
        <p:sp>
          <p:nvSpPr>
            <p:cNvPr id="10" name="DSGRP_6"/>
            <p:cNvSpPr/>
            <p:nvPr/>
          </p:nvSpPr>
          <p:spPr>
            <a:xfrm>
              <a:off x="4429171" y="2104126"/>
              <a:ext cx="381488" cy="3905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2700" b="1" dirty="0">
                  <a:solidFill>
                    <a:srgbClr val="0031D8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20</a:t>
              </a:r>
              <a:endParaRPr lang="en-US" sz="2700" dirty="0"/>
            </a:p>
          </p:txBody>
        </p:sp>
        <p:sp>
          <p:nvSpPr>
            <p:cNvPr id="11" name="DSGRP_6"/>
            <p:cNvSpPr/>
            <p:nvPr/>
          </p:nvSpPr>
          <p:spPr>
            <a:xfrm>
              <a:off x="4429171" y="2572573"/>
              <a:ext cx="833933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自作14+公式6</a:t>
              </a:r>
              <a:endParaRPr lang="en-US" sz="1050" dirty="0"/>
            </a:p>
          </p:txBody>
        </p:sp>
      </p:grpSp>
      <p:grpSp>
        <p:nvGrpSpPr>
          <p:cNvPr id="37" name="DSGRP_7"/>
          <p:cNvGrpSpPr/>
          <p:nvPr/>
        </p:nvGrpSpPr>
        <p:grpSpPr>
          <a:xfrm>
            <a:off x="8077170" y="1055400"/>
            <a:ext cx="3657600" cy="2461382"/>
            <a:chOff x="8077170" y="1055400"/>
            <a:chExt cx="3657600" cy="2461382"/>
          </a:xfrm>
        </p:grpSpPr>
        <p:sp>
          <p:nvSpPr>
            <p:cNvPr id="12" name="DSGRP_7"/>
            <p:cNvSpPr/>
            <p:nvPr/>
          </p:nvSpPr>
          <p:spPr>
            <a:xfrm>
              <a:off x="8077170" y="1055400"/>
              <a:ext cx="3657600" cy="2461382"/>
            </a:xfrm>
            <a:prstGeom prst="roundRect">
              <a:avLst>
                <a:gd name="adj" fmla="val 3095"/>
              </a:avLst>
            </a:prstGeom>
            <a:solidFill>
              <a:srgbClr val="F2F2F2"/>
            </a:solidFill>
            <a:ln w="9525">
              <a:solidFill>
                <a:srgbClr val="CCCCCC"/>
              </a:solidFill>
              <a:prstDash val="solid"/>
            </a:ln>
          </p:spPr>
        </p:sp>
        <p:sp>
          <p:nvSpPr>
            <p:cNvPr id="13" name="DSGRP_7"/>
            <p:cNvSpPr/>
            <p:nvPr/>
          </p:nvSpPr>
          <p:spPr>
            <a:xfrm>
              <a:off x="8239110" y="1857604"/>
              <a:ext cx="533370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採用手法</a:t>
              </a:r>
              <a:endParaRPr lang="en-US" sz="1050" dirty="0"/>
            </a:p>
          </p:txBody>
        </p:sp>
        <p:sp>
          <p:nvSpPr>
            <p:cNvPr id="14" name="DSGRP_7"/>
            <p:cNvSpPr/>
            <p:nvPr/>
          </p:nvSpPr>
          <p:spPr>
            <a:xfrm>
              <a:off x="8239110" y="2089861"/>
              <a:ext cx="381488" cy="3905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2700" b="1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37</a:t>
              </a:r>
              <a:endParaRPr lang="en-US" sz="2700" dirty="0"/>
            </a:p>
          </p:txBody>
        </p:sp>
        <p:sp>
          <p:nvSpPr>
            <p:cNvPr id="15" name="DSGRP_7"/>
            <p:cNvSpPr/>
            <p:nvPr/>
          </p:nvSpPr>
          <p:spPr>
            <a:xfrm>
              <a:off x="8239110" y="2558308"/>
              <a:ext cx="536570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出典付き</a:t>
              </a:r>
              <a:endParaRPr lang="en-US" sz="1050" dirty="0"/>
            </a:p>
          </p:txBody>
        </p:sp>
      </p:grpSp>
      <p:grpSp>
        <p:nvGrpSpPr>
          <p:cNvPr id="38" name="DSGRP_8"/>
          <p:cNvGrpSpPr/>
          <p:nvPr/>
        </p:nvGrpSpPr>
        <p:grpSpPr>
          <a:xfrm>
            <a:off x="457200" y="3669030"/>
            <a:ext cx="3657600" cy="2432761"/>
            <a:chOff x="457200" y="3669030"/>
            <a:chExt cx="3657600" cy="2432761"/>
          </a:xfrm>
        </p:grpSpPr>
        <p:sp>
          <p:nvSpPr>
            <p:cNvPr id="16" name="DSGRP_8"/>
            <p:cNvSpPr/>
            <p:nvPr/>
          </p:nvSpPr>
          <p:spPr>
            <a:xfrm>
              <a:off x="457200" y="3669030"/>
              <a:ext cx="3657600" cy="2432761"/>
            </a:xfrm>
            <a:prstGeom prst="roundRect">
              <a:avLst>
                <a:gd name="adj" fmla="val 3131"/>
              </a:avLst>
            </a:prstGeom>
            <a:solidFill>
              <a:srgbClr val="F2F2F2"/>
            </a:solidFill>
            <a:ln w="9525">
              <a:solidFill>
                <a:srgbClr val="CCCCCC"/>
              </a:solidFill>
              <a:prstDash val="solid"/>
            </a:ln>
          </p:spPr>
        </p:sp>
        <p:sp>
          <p:nvSpPr>
            <p:cNvPr id="17" name="DSGRP_8"/>
            <p:cNvSpPr/>
            <p:nvPr/>
          </p:nvSpPr>
          <p:spPr>
            <a:xfrm>
              <a:off x="619140" y="4456968"/>
              <a:ext cx="812536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付録スライド</a:t>
              </a:r>
              <a:endParaRPr lang="en-US" sz="1050" dirty="0"/>
            </a:p>
          </p:txBody>
        </p:sp>
        <p:sp>
          <p:nvSpPr>
            <p:cNvPr id="18" name="DSGRP_8"/>
            <p:cNvSpPr/>
            <p:nvPr/>
          </p:nvSpPr>
          <p:spPr>
            <a:xfrm>
              <a:off x="619140" y="4689226"/>
              <a:ext cx="362560" cy="3905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2700" b="1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11</a:t>
              </a:r>
              <a:endParaRPr lang="en-US" sz="2700" dirty="0"/>
            </a:p>
          </p:txBody>
        </p:sp>
        <p:sp>
          <p:nvSpPr>
            <p:cNvPr id="19" name="DSGRP_8"/>
            <p:cNvSpPr/>
            <p:nvPr/>
          </p:nvSpPr>
          <p:spPr>
            <a:xfrm>
              <a:off x="619140" y="5157765"/>
              <a:ext cx="266730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実例</a:t>
              </a:r>
              <a:endParaRPr lang="en-US" sz="1050" dirty="0"/>
            </a:p>
          </p:txBody>
        </p:sp>
      </p:grpSp>
      <p:grpSp>
        <p:nvGrpSpPr>
          <p:cNvPr id="39" name="DSGRP_9"/>
          <p:cNvGrpSpPr/>
          <p:nvPr/>
        </p:nvGrpSpPr>
        <p:grpSpPr>
          <a:xfrm>
            <a:off x="4267230" y="3669030"/>
            <a:ext cx="3657600" cy="2432761"/>
            <a:chOff x="4267230" y="3669030"/>
            <a:chExt cx="3657600" cy="2432761"/>
          </a:xfrm>
        </p:grpSpPr>
        <p:sp>
          <p:nvSpPr>
            <p:cNvPr id="20" name="DSGRP_9"/>
            <p:cNvSpPr/>
            <p:nvPr/>
          </p:nvSpPr>
          <p:spPr>
            <a:xfrm>
              <a:off x="4267230" y="3669030"/>
              <a:ext cx="3657600" cy="2432761"/>
            </a:xfrm>
            <a:prstGeom prst="roundRect">
              <a:avLst>
                <a:gd name="adj" fmla="val 3131"/>
              </a:avLst>
            </a:prstGeom>
            <a:solidFill>
              <a:srgbClr val="F2F2F2"/>
            </a:solidFill>
            <a:ln w="9525">
              <a:solidFill>
                <a:srgbClr val="CCCCCC"/>
              </a:solidFill>
              <a:prstDash val="solid"/>
            </a:ln>
          </p:spPr>
        </p:sp>
        <p:sp>
          <p:nvSpPr>
            <p:cNvPr id="21" name="DSGRP_9"/>
            <p:cNvSpPr/>
            <p:nvPr/>
          </p:nvSpPr>
          <p:spPr>
            <a:xfrm>
              <a:off x="4429171" y="4456968"/>
              <a:ext cx="451988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DS準拠</a:t>
              </a:r>
              <a:endParaRPr lang="en-US" sz="1050" dirty="0"/>
            </a:p>
          </p:txBody>
        </p:sp>
        <p:sp>
          <p:nvSpPr>
            <p:cNvPr id="22" name="DSGRP_9"/>
            <p:cNvSpPr/>
            <p:nvPr/>
          </p:nvSpPr>
          <p:spPr>
            <a:xfrm>
              <a:off x="4429171" y="4689226"/>
              <a:ext cx="877092" cy="3905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2700" b="1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100%</a:t>
              </a:r>
              <a:endParaRPr lang="en-US" sz="2700" dirty="0"/>
            </a:p>
          </p:txBody>
        </p:sp>
        <p:sp>
          <p:nvSpPr>
            <p:cNvPr id="23" name="DSGRP_9"/>
            <p:cNvSpPr/>
            <p:nvPr/>
          </p:nvSpPr>
          <p:spPr>
            <a:xfrm>
              <a:off x="4429171" y="5157765"/>
              <a:ext cx="809427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トークン参照</a:t>
              </a:r>
              <a:endParaRPr lang="en-US" sz="1050" dirty="0"/>
            </a:p>
          </p:txBody>
        </p:sp>
      </p:grpSp>
      <p:grpSp>
        <p:nvGrpSpPr>
          <p:cNvPr id="40" name="DSGRP_10"/>
          <p:cNvGrpSpPr/>
          <p:nvPr/>
        </p:nvGrpSpPr>
        <p:grpSpPr>
          <a:xfrm>
            <a:off x="8077170" y="3669030"/>
            <a:ext cx="3657600" cy="2432761"/>
            <a:chOff x="8077170" y="3669030"/>
            <a:chExt cx="3657600" cy="2432761"/>
          </a:xfrm>
        </p:grpSpPr>
        <p:sp>
          <p:nvSpPr>
            <p:cNvPr id="24" name="DSGRP_10"/>
            <p:cNvSpPr/>
            <p:nvPr/>
          </p:nvSpPr>
          <p:spPr>
            <a:xfrm>
              <a:off x="8077170" y="3669030"/>
              <a:ext cx="3657600" cy="2432761"/>
            </a:xfrm>
            <a:prstGeom prst="roundRect">
              <a:avLst>
                <a:gd name="adj" fmla="val 3131"/>
              </a:avLst>
            </a:prstGeom>
            <a:solidFill>
              <a:srgbClr val="F2F2F2"/>
            </a:solidFill>
            <a:ln w="9525">
              <a:solidFill>
                <a:srgbClr val="CCCCCC"/>
              </a:solidFill>
              <a:prstDash val="solid"/>
            </a:ln>
          </p:spPr>
        </p:sp>
        <p:sp>
          <p:nvSpPr>
            <p:cNvPr id="25" name="DSGRP_10"/>
            <p:cNvSpPr/>
            <p:nvPr/>
          </p:nvSpPr>
          <p:spPr>
            <a:xfrm>
              <a:off x="8239110" y="4456968"/>
              <a:ext cx="812536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ハードコード</a:t>
              </a:r>
              <a:endParaRPr lang="en-US" sz="1050" dirty="0"/>
            </a:p>
          </p:txBody>
        </p:sp>
        <p:sp>
          <p:nvSpPr>
            <p:cNvPr id="26" name="DSGRP_10"/>
            <p:cNvSpPr/>
            <p:nvPr/>
          </p:nvSpPr>
          <p:spPr>
            <a:xfrm>
              <a:off x="8239110" y="4689226"/>
              <a:ext cx="190744" cy="3905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2700" b="1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0</a:t>
              </a:r>
              <a:endParaRPr lang="en-US" sz="2700" dirty="0"/>
            </a:p>
          </p:txBody>
        </p:sp>
        <p:sp>
          <p:nvSpPr>
            <p:cNvPr id="27" name="DSGRP_10"/>
            <p:cNvSpPr/>
            <p:nvPr/>
          </p:nvSpPr>
          <p:spPr>
            <a:xfrm>
              <a:off x="8239110" y="5157765"/>
              <a:ext cx="437266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lint検証</a:t>
              </a:r>
              <a:endParaRPr lang="en-US" sz="1050" dirty="0"/>
            </a:p>
          </p:txBody>
        </p:sp>
      </p:grpSp>
      <p:sp>
        <p:nvSpPr>
          <p:cNvPr id="28" name="Shape 26"/>
          <p:cNvSpPr/>
          <p:nvPr/>
        </p:nvSpPr>
        <p:spPr>
          <a:xfrm>
            <a:off x="457200" y="6254222"/>
            <a:ext cx="11277570" cy="299009"/>
          </a:xfrm>
          <a:prstGeom prst="rect">
            <a:avLst/>
          </a:prstGeom>
          <a:ln/>
        </p:spPr>
      </p:sp>
      <p:sp>
        <p:nvSpPr>
          <p:cNvPr id="29" name="Shape 27"/>
          <p:cNvSpPr/>
          <p:nvPr/>
        </p:nvSpPr>
        <p:spPr>
          <a:xfrm>
            <a:off x="457200" y="6254222"/>
            <a:ext cx="1127757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6368522"/>
            <a:ext cx="250509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使い方: 注目1件を強調・6件以内に抑える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106120" y="114300"/>
            <a:ext cx="9334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（組織名）限定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146170" y="312450"/>
            <a:ext cx="893460" cy="236190"/>
          </a:xfrm>
          <a:prstGeom prst="rect">
            <a:avLst>
              <a:gd name="adj" fmla="val 16144"/>
            </a:avLst>
          </a:prstGeom>
          <a:solidFill>
            <a:srgbClr val="FFEEE2"/>
          </a:solidFill>
          <a:ln/>
        </p:spPr>
        <p:txBody>
          <a:bodyPr wrap="square" lIns="38100" tIns="76200" rIns="76200" bIns="3810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C3E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機密性2情報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52430" y="6583680"/>
            <a:ext cx="1135868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（組織名）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705966" y="6583680"/>
            <a:ext cx="333665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 / 28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3880"/>
            <a:ext cx="6611569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タイムラインは</a:t>
            </a:r>
            <a:pPr algn="l" indent="0" marL="0">
              <a:buNone/>
            </a:pPr>
            <a:r>
              <a:rPr lang="en-US" sz="27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時系列で全体像</a:t>
            </a:r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を示します</a:t>
            </a:r>
            <a:endParaRPr lang="en-US" sz="2700" dirty="0"/>
          </a:p>
        </p:txBody>
      </p:sp>
      <p:grpSp>
        <p:nvGrpSpPr>
          <p:cNvPr id="25" name="DSGRP_11"/>
          <p:cNvGrpSpPr/>
          <p:nvPr/>
        </p:nvGrpSpPr>
        <p:grpSpPr>
          <a:xfrm>
            <a:off x="457200" y="2898465"/>
            <a:ext cx="2705070" cy="1497239"/>
            <a:chOff x="457200" y="2898465"/>
            <a:chExt cx="2705070" cy="1497239"/>
          </a:xfrm>
        </p:grpSpPr>
        <p:sp>
          <p:nvSpPr>
            <p:cNvPr id="3" name="DSGRP_11"/>
            <p:cNvSpPr/>
            <p:nvPr/>
          </p:nvSpPr>
          <p:spPr>
            <a:xfrm>
              <a:off x="457200" y="2898465"/>
              <a:ext cx="2705070" cy="1497239"/>
            </a:xfrm>
            <a:prstGeom prst="roundRect">
              <a:avLst>
                <a:gd name="adj" fmla="val 5087"/>
              </a:avLst>
            </a:prstGeom>
            <a:solidFill>
              <a:srgbClr val="F2F2F2"/>
            </a:solidFill>
            <a:ln w="9525">
              <a:solidFill>
                <a:srgbClr val="CCCCCC"/>
              </a:solidFill>
              <a:prstDash val="solid"/>
            </a:ln>
          </p:spPr>
        </p:sp>
        <p:sp>
          <p:nvSpPr>
            <p:cNvPr id="4" name="DSGRP_11"/>
            <p:cNvSpPr/>
            <p:nvPr/>
          </p:nvSpPr>
          <p:spPr>
            <a:xfrm>
              <a:off x="619140" y="3060405"/>
              <a:ext cx="2381280" cy="289499"/>
            </a:xfrm>
            <a:prstGeom prst="rect">
              <a:avLst>
                <a:gd name="adj" fmla="val 52653"/>
              </a:avLst>
            </a:prstGeom>
            <a:solidFill>
              <a:srgbClr val="0031D8"/>
            </a:solidFill>
            <a:ln/>
          </p:spPr>
          <p:txBody>
            <a:bodyPr wrap="square" lIns="38100" tIns="114300" rIns="114300" bIns="38100" rtlCol="0" anchor="t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0週</a:t>
              </a:r>
              <a:endParaRPr lang="en-US" sz="1050" dirty="0"/>
            </a:p>
          </p:txBody>
        </p:sp>
        <p:sp>
          <p:nvSpPr>
            <p:cNvPr id="5" name="DSGRP_11"/>
            <p:cNvSpPr/>
            <p:nvPr/>
          </p:nvSpPr>
          <p:spPr>
            <a:xfrm>
              <a:off x="619140" y="3511753"/>
              <a:ext cx="385511" cy="2095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500" b="1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選ぶ</a:t>
              </a:r>
              <a:endParaRPr lang="en-US" sz="1500" dirty="0"/>
            </a:p>
          </p:txBody>
        </p:sp>
        <p:sp>
          <p:nvSpPr>
            <p:cNvPr id="6" name="DSGRP_11"/>
            <p:cNvSpPr/>
            <p:nvPr/>
          </p:nvSpPr>
          <p:spPr>
            <a:xfrm>
              <a:off x="619140" y="3921313"/>
              <a:ext cx="1395740" cy="190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3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レイアウトを複製</a:t>
              </a:r>
              <a:endParaRPr lang="en-US" sz="1350" dirty="0"/>
            </a:p>
          </p:txBody>
        </p:sp>
      </p:grpSp>
      <p:grpSp>
        <p:nvGrpSpPr>
          <p:cNvPr id="26" name="DSGRP_12"/>
          <p:cNvGrpSpPr/>
          <p:nvPr/>
        </p:nvGrpSpPr>
        <p:grpSpPr>
          <a:xfrm>
            <a:off x="3314700" y="2974635"/>
            <a:ext cx="2705070" cy="1421069"/>
            <a:chOff x="3314700" y="2974635"/>
            <a:chExt cx="2705070" cy="1421069"/>
          </a:xfrm>
        </p:grpSpPr>
        <p:sp>
          <p:nvSpPr>
            <p:cNvPr id="7" name="DSGRP_12"/>
            <p:cNvSpPr/>
            <p:nvPr/>
          </p:nvSpPr>
          <p:spPr>
            <a:xfrm>
              <a:off x="3314700" y="2974635"/>
              <a:ext cx="2705070" cy="1421069"/>
            </a:xfrm>
            <a:prstGeom prst="roundRect">
              <a:avLst>
                <a:gd name="adj" fmla="val 5360"/>
              </a:avLst>
            </a:prstGeom>
            <a:solidFill>
              <a:srgbClr val="F2F2F2"/>
            </a:solidFill>
            <a:ln w="9525">
              <a:solidFill>
                <a:srgbClr val="0031D8"/>
              </a:solidFill>
              <a:prstDash val="solid"/>
            </a:ln>
          </p:spPr>
        </p:sp>
        <p:sp>
          <p:nvSpPr>
            <p:cNvPr id="8" name="DSGRP_12"/>
            <p:cNvSpPr/>
            <p:nvPr/>
          </p:nvSpPr>
          <p:spPr>
            <a:xfrm>
              <a:off x="3476640" y="3136575"/>
              <a:ext cx="2381280" cy="289499"/>
            </a:xfrm>
            <a:prstGeom prst="rect">
              <a:avLst>
                <a:gd name="adj" fmla="val 52653"/>
              </a:avLst>
            </a:prstGeom>
            <a:solidFill>
              <a:srgbClr val="0031D8"/>
            </a:solidFill>
            <a:ln/>
          </p:spPr>
          <p:txBody>
            <a:bodyPr wrap="square" lIns="38100" tIns="114300" rIns="114300" bIns="38100" rtlCol="0" anchor="t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1週</a:t>
              </a:r>
              <a:endParaRPr lang="en-US" sz="1050" dirty="0"/>
            </a:p>
          </p:txBody>
        </p:sp>
        <p:sp>
          <p:nvSpPr>
            <p:cNvPr id="9" name="DSGRP_12"/>
            <p:cNvSpPr/>
            <p:nvPr/>
          </p:nvSpPr>
          <p:spPr>
            <a:xfrm>
              <a:off x="3476640" y="3588014"/>
              <a:ext cx="385511" cy="2095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500" b="1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書く</a:t>
              </a:r>
              <a:endParaRPr lang="en-US" sz="1500" dirty="0"/>
            </a:p>
          </p:txBody>
        </p:sp>
        <p:sp>
          <p:nvSpPr>
            <p:cNvPr id="10" name="DSGRP_12"/>
            <p:cNvSpPr/>
            <p:nvPr/>
          </p:nvSpPr>
          <p:spPr>
            <a:xfrm>
              <a:off x="3476640" y="3997574"/>
              <a:ext cx="1379647" cy="190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3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主張と根拠を入力</a:t>
              </a:r>
              <a:endParaRPr lang="en-US" sz="1350" dirty="0"/>
            </a:p>
          </p:txBody>
        </p:sp>
      </p:grpSp>
      <p:grpSp>
        <p:nvGrpSpPr>
          <p:cNvPr id="27" name="DSGRP_13"/>
          <p:cNvGrpSpPr/>
          <p:nvPr/>
        </p:nvGrpSpPr>
        <p:grpSpPr>
          <a:xfrm>
            <a:off x="6172200" y="2974635"/>
            <a:ext cx="2705070" cy="1421069"/>
            <a:chOff x="6172200" y="2974635"/>
            <a:chExt cx="2705070" cy="1421069"/>
          </a:xfrm>
        </p:grpSpPr>
        <p:sp>
          <p:nvSpPr>
            <p:cNvPr id="11" name="DSGRP_13"/>
            <p:cNvSpPr/>
            <p:nvPr/>
          </p:nvSpPr>
          <p:spPr>
            <a:xfrm>
              <a:off x="6172200" y="2974635"/>
              <a:ext cx="2705070" cy="1421069"/>
            </a:xfrm>
            <a:prstGeom prst="roundRect">
              <a:avLst>
                <a:gd name="adj" fmla="val 5360"/>
              </a:avLst>
            </a:prstGeom>
            <a:solidFill>
              <a:srgbClr val="F2F2F2"/>
            </a:solidFill>
            <a:ln w="9525">
              <a:solidFill>
                <a:srgbClr val="CCCCCC"/>
              </a:solidFill>
              <a:prstDash val="solid"/>
            </a:ln>
          </p:spPr>
        </p:sp>
        <p:sp>
          <p:nvSpPr>
            <p:cNvPr id="12" name="DSGRP_13"/>
            <p:cNvSpPr/>
            <p:nvPr/>
          </p:nvSpPr>
          <p:spPr>
            <a:xfrm>
              <a:off x="6334140" y="3136575"/>
              <a:ext cx="2381280" cy="289499"/>
            </a:xfrm>
            <a:prstGeom prst="rect">
              <a:avLst>
                <a:gd name="adj" fmla="val 52653"/>
              </a:avLst>
            </a:prstGeom>
            <a:solidFill>
              <a:srgbClr val="E6E6E6"/>
            </a:solidFill>
            <a:ln/>
          </p:spPr>
          <p:txBody>
            <a:bodyPr wrap="square" lIns="38100" tIns="114300" rIns="114300" bIns="38100" rtlCol="0" anchor="t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2週</a:t>
              </a:r>
              <a:endParaRPr lang="en-US" sz="1050" dirty="0"/>
            </a:p>
          </p:txBody>
        </p:sp>
        <p:sp>
          <p:nvSpPr>
            <p:cNvPr id="13" name="DSGRP_13"/>
            <p:cNvSpPr/>
            <p:nvPr/>
          </p:nvSpPr>
          <p:spPr>
            <a:xfrm>
              <a:off x="6334140" y="3588014"/>
              <a:ext cx="580461" cy="2095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500" b="1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整える</a:t>
              </a:r>
              <a:endParaRPr lang="en-US" sz="1500" dirty="0"/>
            </a:p>
          </p:txBody>
        </p:sp>
        <p:sp>
          <p:nvSpPr>
            <p:cNvPr id="14" name="DSGRP_13"/>
            <p:cNvSpPr/>
            <p:nvPr/>
          </p:nvSpPr>
          <p:spPr>
            <a:xfrm>
              <a:off x="6334140" y="3997574"/>
              <a:ext cx="1387693" cy="190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3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トークン内で調整</a:t>
              </a:r>
              <a:endParaRPr lang="en-US" sz="1350" dirty="0"/>
            </a:p>
          </p:txBody>
        </p:sp>
      </p:grpSp>
      <p:grpSp>
        <p:nvGrpSpPr>
          <p:cNvPr id="28" name="DSGRP_14"/>
          <p:cNvGrpSpPr/>
          <p:nvPr/>
        </p:nvGrpSpPr>
        <p:grpSpPr>
          <a:xfrm>
            <a:off x="9029700" y="2974635"/>
            <a:ext cx="2705070" cy="1421069"/>
            <a:chOff x="9029700" y="2974635"/>
            <a:chExt cx="2705070" cy="1421069"/>
          </a:xfrm>
        </p:grpSpPr>
        <p:sp>
          <p:nvSpPr>
            <p:cNvPr id="15" name="DSGRP_14"/>
            <p:cNvSpPr/>
            <p:nvPr/>
          </p:nvSpPr>
          <p:spPr>
            <a:xfrm>
              <a:off x="9029700" y="2974635"/>
              <a:ext cx="2705070" cy="1421069"/>
            </a:xfrm>
            <a:prstGeom prst="roundRect">
              <a:avLst>
                <a:gd name="adj" fmla="val 5360"/>
              </a:avLst>
            </a:prstGeom>
            <a:solidFill>
              <a:srgbClr val="F2F2F2"/>
            </a:solidFill>
            <a:ln w="9525">
              <a:solidFill>
                <a:srgbClr val="CCCCCC"/>
              </a:solidFill>
              <a:prstDash val="solid"/>
            </a:ln>
          </p:spPr>
        </p:sp>
        <p:sp>
          <p:nvSpPr>
            <p:cNvPr id="16" name="DSGRP_14"/>
            <p:cNvSpPr/>
            <p:nvPr/>
          </p:nvSpPr>
          <p:spPr>
            <a:xfrm>
              <a:off x="9191640" y="3136575"/>
              <a:ext cx="2381280" cy="289499"/>
            </a:xfrm>
            <a:prstGeom prst="rect">
              <a:avLst>
                <a:gd name="adj" fmla="val 52653"/>
              </a:avLst>
            </a:prstGeom>
            <a:solidFill>
              <a:srgbClr val="E6E6E6"/>
            </a:solidFill>
            <a:ln/>
          </p:spPr>
          <p:txBody>
            <a:bodyPr wrap="square" lIns="38100" tIns="114300" rIns="114300" bIns="38100" rtlCol="0" anchor="t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4週</a:t>
              </a:r>
              <a:endParaRPr lang="en-US" sz="1050" dirty="0"/>
            </a:p>
          </p:txBody>
        </p:sp>
        <p:sp>
          <p:nvSpPr>
            <p:cNvPr id="17" name="DSGRP_14"/>
            <p:cNvSpPr/>
            <p:nvPr/>
          </p:nvSpPr>
          <p:spPr>
            <a:xfrm>
              <a:off x="9191640" y="3588014"/>
              <a:ext cx="385511" cy="2095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500" b="1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配る</a:t>
              </a:r>
              <a:endParaRPr lang="en-US" sz="1500" dirty="0"/>
            </a:p>
          </p:txBody>
        </p:sp>
        <p:sp>
          <p:nvSpPr>
            <p:cNvPr id="18" name="DSGRP_14"/>
            <p:cNvSpPr/>
            <p:nvPr/>
          </p:nvSpPr>
          <p:spPr>
            <a:xfrm>
              <a:off x="9191640" y="3997574"/>
              <a:ext cx="1375623" cy="190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3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印刷・PDFで共有</a:t>
              </a:r>
              <a:endParaRPr lang="en-US" sz="1350" dirty="0"/>
            </a:p>
          </p:txBody>
        </p:sp>
      </p:grpSp>
      <p:sp>
        <p:nvSpPr>
          <p:cNvPr id="19" name="Shape 17"/>
          <p:cNvSpPr/>
          <p:nvPr/>
        </p:nvSpPr>
        <p:spPr>
          <a:xfrm>
            <a:off x="457200" y="6391290"/>
            <a:ext cx="11277570" cy="161940"/>
          </a:xfrm>
          <a:prstGeom prst="rect">
            <a:avLst/>
          </a:prstGeom>
          <a:ln/>
        </p:spPr>
      </p:sp>
      <p:sp>
        <p:nvSpPr>
          <p:cNvPr id="20" name="Shape 18"/>
          <p:cNvSpPr/>
          <p:nvPr/>
        </p:nvSpPr>
        <p:spPr>
          <a:xfrm>
            <a:off x="457200" y="6391290"/>
            <a:ext cx="1127757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6120" y="114300"/>
            <a:ext cx="9334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（組織名）限定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146170" y="312450"/>
            <a:ext cx="893460" cy="236190"/>
          </a:xfrm>
          <a:prstGeom prst="rect">
            <a:avLst>
              <a:gd name="adj" fmla="val 16144"/>
            </a:avLst>
          </a:prstGeom>
          <a:solidFill>
            <a:srgbClr val="FFEEE2"/>
          </a:solidFill>
          <a:ln/>
        </p:spPr>
        <p:txBody>
          <a:bodyPr wrap="square" lIns="38100" tIns="76200" rIns="76200" bIns="3810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C3E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機密性2情報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52430" y="6583680"/>
            <a:ext cx="1135868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（組織名）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631625" y="6583680"/>
            <a:ext cx="407914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 / 28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3880"/>
            <a:ext cx="6124560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マトリクスは</a:t>
            </a:r>
            <a:pPr algn="l" indent="0" marL="0">
              <a:buNone/>
            </a:pPr>
            <a:r>
              <a:rPr lang="en-US" sz="27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2軸で位置づけ</a:t>
            </a:r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を示します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7271" y="3246669"/>
            <a:ext cx="152430" cy="244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 高 → 低</a:t>
            </a:r>
            <a:endParaRPr lang="en-US" sz="1050" dirty="0"/>
          </a:p>
        </p:txBody>
      </p:sp>
      <p:grpSp>
        <p:nvGrpSpPr>
          <p:cNvPr id="25" name="DSGRP_15"/>
          <p:cNvGrpSpPr/>
          <p:nvPr/>
        </p:nvGrpSpPr>
        <p:grpSpPr>
          <a:xfrm>
            <a:off x="952530" y="1483065"/>
            <a:ext cx="5333970" cy="1828800"/>
            <a:chOff x="952530" y="1483065"/>
            <a:chExt cx="5333970" cy="1828800"/>
          </a:xfrm>
        </p:grpSpPr>
        <p:sp>
          <p:nvSpPr>
            <p:cNvPr id="4" name="DSGRP_15"/>
            <p:cNvSpPr/>
            <p:nvPr/>
          </p:nvSpPr>
          <p:spPr>
            <a:xfrm>
              <a:off x="952530" y="1483065"/>
              <a:ext cx="5333970" cy="1828800"/>
            </a:xfrm>
            <a:prstGeom prst="roundRect">
              <a:avLst>
                <a:gd name="adj" fmla="val 4165"/>
              </a:avLst>
            </a:prstGeom>
            <a:solidFill>
              <a:srgbClr val="F2F2F2"/>
            </a:solidFill>
            <a:ln/>
          </p:spPr>
        </p:sp>
        <p:sp>
          <p:nvSpPr>
            <p:cNvPr id="5" name="DSGRP_15"/>
            <p:cNvSpPr/>
            <p:nvPr/>
          </p:nvSpPr>
          <p:spPr>
            <a:xfrm>
              <a:off x="952530" y="1483065"/>
              <a:ext cx="5333970" cy="38130"/>
            </a:xfrm>
            <a:prstGeom prst="rect">
              <a:avLst/>
            </a:prstGeom>
            <a:solidFill>
              <a:srgbClr val="0031D8"/>
            </a:solidFill>
            <a:ln/>
          </p:spPr>
        </p:sp>
        <p:sp>
          <p:nvSpPr>
            <p:cNvPr id="6" name="DSGRP_15"/>
            <p:cNvSpPr/>
            <p:nvPr/>
          </p:nvSpPr>
          <p:spPr>
            <a:xfrm>
              <a:off x="1114471" y="1721175"/>
              <a:ext cx="571500" cy="2095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500" b="1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最優先</a:t>
              </a:r>
              <a:endParaRPr lang="en-US" sz="1500" dirty="0"/>
            </a:p>
          </p:txBody>
        </p:sp>
        <p:sp>
          <p:nvSpPr>
            <p:cNvPr id="7" name="DSGRP_15"/>
            <p:cNvSpPr/>
            <p:nvPr/>
          </p:nvSpPr>
          <p:spPr>
            <a:xfrm>
              <a:off x="1114471" y="2083095"/>
              <a:ext cx="2003359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効果大・容易（推奨象限を強調）</a:t>
              </a:r>
              <a:endParaRPr lang="en-US" sz="1050" dirty="0"/>
            </a:p>
          </p:txBody>
        </p:sp>
      </p:grpSp>
      <p:grpSp>
        <p:nvGrpSpPr>
          <p:cNvPr id="26" name="DSGRP_16"/>
          <p:cNvGrpSpPr/>
          <p:nvPr/>
        </p:nvGrpSpPr>
        <p:grpSpPr>
          <a:xfrm>
            <a:off x="6400800" y="1483065"/>
            <a:ext cx="5333970" cy="1828800"/>
            <a:chOff x="6400800" y="1483065"/>
            <a:chExt cx="5333970" cy="1828800"/>
          </a:xfrm>
        </p:grpSpPr>
        <p:sp>
          <p:nvSpPr>
            <p:cNvPr id="8" name="DSGRP_16"/>
            <p:cNvSpPr/>
            <p:nvPr/>
          </p:nvSpPr>
          <p:spPr>
            <a:xfrm>
              <a:off x="6400800" y="1483065"/>
              <a:ext cx="5333970" cy="1828800"/>
            </a:xfrm>
            <a:prstGeom prst="roundRect">
              <a:avLst>
                <a:gd name="adj" fmla="val 4165"/>
              </a:avLst>
            </a:prstGeom>
            <a:solidFill>
              <a:srgbClr val="F2F2F2"/>
            </a:solidFill>
            <a:ln w="9525">
              <a:solidFill>
                <a:srgbClr val="CCCCCC"/>
              </a:solidFill>
              <a:prstDash val="solid"/>
            </a:ln>
          </p:spPr>
        </p:sp>
        <p:sp>
          <p:nvSpPr>
            <p:cNvPr id="9" name="DSGRP_16"/>
            <p:cNvSpPr/>
            <p:nvPr/>
          </p:nvSpPr>
          <p:spPr>
            <a:xfrm>
              <a:off x="6562740" y="1692554"/>
              <a:ext cx="766450" cy="2095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500" b="1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計画的に</a:t>
              </a:r>
              <a:endParaRPr lang="en-US" sz="1500" dirty="0"/>
            </a:p>
          </p:txBody>
        </p:sp>
        <p:sp>
          <p:nvSpPr>
            <p:cNvPr id="10" name="DSGRP_16"/>
            <p:cNvSpPr/>
            <p:nvPr/>
          </p:nvSpPr>
          <p:spPr>
            <a:xfrm>
              <a:off x="6562740" y="2054565"/>
              <a:ext cx="800100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効果大・困難</a:t>
              </a:r>
              <a:endParaRPr lang="en-US" sz="1050" dirty="0"/>
            </a:p>
          </p:txBody>
        </p:sp>
      </p:grpSp>
      <p:grpSp>
        <p:nvGrpSpPr>
          <p:cNvPr id="27" name="DSGRP_17"/>
          <p:cNvGrpSpPr/>
          <p:nvPr/>
        </p:nvGrpSpPr>
        <p:grpSpPr>
          <a:xfrm>
            <a:off x="952530" y="3426165"/>
            <a:ext cx="5333970" cy="1828800"/>
            <a:chOff x="952530" y="3426165"/>
            <a:chExt cx="5333970" cy="1828800"/>
          </a:xfrm>
        </p:grpSpPr>
        <p:sp>
          <p:nvSpPr>
            <p:cNvPr id="11" name="DSGRP_17"/>
            <p:cNvSpPr/>
            <p:nvPr/>
          </p:nvSpPr>
          <p:spPr>
            <a:xfrm>
              <a:off x="952530" y="3426165"/>
              <a:ext cx="5333970" cy="1828800"/>
            </a:xfrm>
            <a:prstGeom prst="roundRect">
              <a:avLst>
                <a:gd name="adj" fmla="val 4165"/>
              </a:avLst>
            </a:prstGeom>
            <a:solidFill>
              <a:srgbClr val="F2F2F2"/>
            </a:solidFill>
            <a:ln w="9525">
              <a:solidFill>
                <a:srgbClr val="CCCCCC"/>
              </a:solidFill>
              <a:prstDash val="solid"/>
            </a:ln>
          </p:spPr>
        </p:sp>
        <p:sp>
          <p:nvSpPr>
            <p:cNvPr id="12" name="DSGRP_17"/>
            <p:cNvSpPr/>
            <p:nvPr/>
          </p:nvSpPr>
          <p:spPr>
            <a:xfrm>
              <a:off x="1114471" y="3635654"/>
              <a:ext cx="1160922" cy="2095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500" b="1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すきま時間で</a:t>
              </a:r>
              <a:endParaRPr lang="en-US" sz="1500" dirty="0"/>
            </a:p>
          </p:txBody>
        </p:sp>
        <p:sp>
          <p:nvSpPr>
            <p:cNvPr id="13" name="DSGRP_17"/>
            <p:cNvSpPr/>
            <p:nvPr/>
          </p:nvSpPr>
          <p:spPr>
            <a:xfrm>
              <a:off x="1114471" y="3997665"/>
              <a:ext cx="800100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効果小・容易</a:t>
              </a:r>
              <a:endParaRPr lang="en-US" sz="1050" dirty="0"/>
            </a:p>
          </p:txBody>
        </p:sp>
      </p:grpSp>
      <p:grpSp>
        <p:nvGrpSpPr>
          <p:cNvPr id="28" name="DSGRP_18"/>
          <p:cNvGrpSpPr/>
          <p:nvPr/>
        </p:nvGrpSpPr>
        <p:grpSpPr>
          <a:xfrm>
            <a:off x="6400800" y="3426165"/>
            <a:ext cx="5333970" cy="1828800"/>
            <a:chOff x="6400800" y="3426165"/>
            <a:chExt cx="5333970" cy="1828800"/>
          </a:xfrm>
        </p:grpSpPr>
        <p:sp>
          <p:nvSpPr>
            <p:cNvPr id="14" name="DSGRP_18"/>
            <p:cNvSpPr/>
            <p:nvPr/>
          </p:nvSpPr>
          <p:spPr>
            <a:xfrm>
              <a:off x="6400800" y="3426165"/>
              <a:ext cx="5333970" cy="1828800"/>
            </a:xfrm>
            <a:prstGeom prst="roundRect">
              <a:avLst>
                <a:gd name="adj" fmla="val 4165"/>
              </a:avLst>
            </a:prstGeom>
            <a:solidFill>
              <a:srgbClr val="F2F2F2"/>
            </a:solidFill>
            <a:ln w="9525">
              <a:solidFill>
                <a:srgbClr val="CCCCCC"/>
              </a:solidFill>
              <a:prstDash val="solid"/>
            </a:ln>
          </p:spPr>
        </p:sp>
        <p:sp>
          <p:nvSpPr>
            <p:cNvPr id="15" name="DSGRP_18"/>
            <p:cNvSpPr/>
            <p:nvPr/>
          </p:nvSpPr>
          <p:spPr>
            <a:xfrm>
              <a:off x="6562740" y="3635654"/>
              <a:ext cx="575981" cy="2095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500" b="1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見送り</a:t>
              </a:r>
              <a:endParaRPr lang="en-US" sz="1500" dirty="0"/>
            </a:p>
          </p:txBody>
        </p:sp>
        <p:sp>
          <p:nvSpPr>
            <p:cNvPr id="16" name="DSGRP_18"/>
            <p:cNvSpPr/>
            <p:nvPr/>
          </p:nvSpPr>
          <p:spPr>
            <a:xfrm>
              <a:off x="6562740" y="3997665"/>
              <a:ext cx="800100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効果小・困難</a:t>
              </a:r>
              <a:endParaRPr lang="en-US" sz="1050" dirty="0"/>
            </a:p>
          </p:txBody>
        </p:sp>
      </p:grpSp>
      <p:sp>
        <p:nvSpPr>
          <p:cNvPr id="17" name="Text 15"/>
          <p:cNvSpPr/>
          <p:nvPr/>
        </p:nvSpPr>
        <p:spPr>
          <a:xfrm>
            <a:off x="5886450" y="5397795"/>
            <a:ext cx="91440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容易さ 高 → 低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6254222"/>
            <a:ext cx="11277570" cy="299009"/>
          </a:xfrm>
          <a:prstGeom prst="rect">
            <a:avLst/>
          </a:prstGeom>
          <a:ln/>
        </p:spPr>
      </p:sp>
      <p:sp>
        <p:nvSpPr>
          <p:cNvPr id="19" name="Shape 17"/>
          <p:cNvSpPr/>
          <p:nvPr/>
        </p:nvSpPr>
        <p:spPr>
          <a:xfrm>
            <a:off x="457200" y="6254222"/>
            <a:ext cx="1127757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6368522"/>
            <a:ext cx="26416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使い方: 2軸で位置づけ・推奨象限を1つ強調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106120" y="114300"/>
            <a:ext cx="9334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（組織名）限定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146170" y="312450"/>
            <a:ext cx="893460" cy="236190"/>
          </a:xfrm>
          <a:prstGeom prst="rect">
            <a:avLst>
              <a:gd name="adj" fmla="val 16144"/>
            </a:avLst>
          </a:prstGeom>
          <a:solidFill>
            <a:srgbClr val="FFEEE2"/>
          </a:solidFill>
          <a:ln/>
        </p:spPr>
        <p:txBody>
          <a:bodyPr wrap="square" lIns="38100" tIns="76200" rIns="76200" bIns="3810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C3E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機密性2情報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52430" y="6583680"/>
            <a:ext cx="1135868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（組織名）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641684" y="6583680"/>
            <a:ext cx="397947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 / 28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3880"/>
            <a:ext cx="6475506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プロセスは</a:t>
            </a:r>
            <a:pPr algn="l" indent="0" marL="0">
              <a:buNone/>
            </a:pPr>
            <a:r>
              <a:rPr lang="en-US" sz="27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3ステップ</a:t>
            </a:r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で手順を図解します</a:t>
            </a:r>
            <a:endParaRPr lang="en-US" sz="2700" dirty="0"/>
          </a:p>
        </p:txBody>
      </p:sp>
      <p:grpSp>
        <p:nvGrpSpPr>
          <p:cNvPr id="24" name="DSGRP_19"/>
          <p:cNvGrpSpPr/>
          <p:nvPr/>
        </p:nvGrpSpPr>
        <p:grpSpPr>
          <a:xfrm>
            <a:off x="457200" y="1055400"/>
            <a:ext cx="3378159" cy="1341150"/>
            <a:chOff x="457200" y="1055400"/>
            <a:chExt cx="3378159" cy="1341150"/>
          </a:xfrm>
        </p:grpSpPr>
        <p:sp>
          <p:nvSpPr>
            <p:cNvPr id="3" name="DSGRP_19"/>
            <p:cNvSpPr/>
            <p:nvPr/>
          </p:nvSpPr>
          <p:spPr>
            <a:xfrm>
              <a:off x="457200" y="1055400"/>
              <a:ext cx="3378159" cy="1341150"/>
            </a:xfrm>
            <a:prstGeom prst="roundRect">
              <a:avLst>
                <a:gd name="adj" fmla="val 5679"/>
              </a:avLst>
            </a:prstGeom>
            <a:solidFill>
              <a:srgbClr val="F2F2F2"/>
            </a:solidFill>
            <a:ln/>
          </p:spPr>
        </p:sp>
        <p:sp>
          <p:nvSpPr>
            <p:cNvPr id="4" name="DSGRP_19"/>
            <p:cNvSpPr/>
            <p:nvPr/>
          </p:nvSpPr>
          <p:spPr>
            <a:xfrm>
              <a:off x="609630" y="1207740"/>
              <a:ext cx="3073298" cy="304770"/>
            </a:xfrm>
            <a:prstGeom prst="rect">
              <a:avLst>
                <a:gd name="adj" fmla="val 50015"/>
              </a:avLst>
            </a:prstGeom>
            <a:solidFill>
              <a:srgbClr val="0031D8"/>
            </a:solidFill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1</a:t>
              </a:r>
              <a:endParaRPr lang="en-US" sz="1050" dirty="0"/>
            </a:p>
          </p:txBody>
        </p:sp>
        <p:sp>
          <p:nvSpPr>
            <p:cNvPr id="5" name="DSGRP_19"/>
            <p:cNvSpPr/>
            <p:nvPr/>
          </p:nvSpPr>
          <p:spPr>
            <a:xfrm>
              <a:off x="609630" y="1636410"/>
              <a:ext cx="385511" cy="2095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500" b="1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選ぶ</a:t>
              </a:r>
              <a:endParaRPr lang="en-US" sz="1500" dirty="0"/>
            </a:p>
          </p:txBody>
        </p:sp>
        <p:sp>
          <p:nvSpPr>
            <p:cNvPr id="6" name="DSGRP_19"/>
            <p:cNvSpPr/>
            <p:nvPr/>
          </p:nvSpPr>
          <p:spPr>
            <a:xfrm>
              <a:off x="609630" y="2007840"/>
              <a:ext cx="1395740" cy="190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3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レイアウトを複製</a:t>
              </a:r>
              <a:endParaRPr lang="en-US" sz="1350" dirty="0"/>
            </a:p>
          </p:txBody>
        </p:sp>
      </p:grpSp>
      <p:sp>
        <p:nvSpPr>
          <p:cNvPr id="7" name="Text 5"/>
          <p:cNvSpPr/>
          <p:nvPr/>
        </p:nvSpPr>
        <p:spPr>
          <a:xfrm>
            <a:off x="3949659" y="1527688"/>
            <a:ext cx="342900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700" dirty="0"/>
          </a:p>
        </p:txBody>
      </p:sp>
      <p:grpSp>
        <p:nvGrpSpPr>
          <p:cNvPr id="25" name="DSGRP_20"/>
          <p:cNvGrpSpPr/>
          <p:nvPr/>
        </p:nvGrpSpPr>
        <p:grpSpPr>
          <a:xfrm>
            <a:off x="4406859" y="1055400"/>
            <a:ext cx="3378251" cy="1341150"/>
            <a:chOff x="4406859" y="1055400"/>
            <a:chExt cx="3378251" cy="1341150"/>
          </a:xfrm>
        </p:grpSpPr>
        <p:sp>
          <p:nvSpPr>
            <p:cNvPr id="8" name="DSGRP_20"/>
            <p:cNvSpPr/>
            <p:nvPr/>
          </p:nvSpPr>
          <p:spPr>
            <a:xfrm>
              <a:off x="4406859" y="1055400"/>
              <a:ext cx="3378251" cy="1341150"/>
            </a:xfrm>
            <a:prstGeom prst="roundRect">
              <a:avLst>
                <a:gd name="adj" fmla="val 5679"/>
              </a:avLst>
            </a:prstGeom>
            <a:solidFill>
              <a:srgbClr val="F2F2F2"/>
            </a:solidFill>
            <a:ln/>
          </p:spPr>
        </p:sp>
        <p:sp>
          <p:nvSpPr>
            <p:cNvPr id="9" name="DSGRP_20"/>
            <p:cNvSpPr/>
            <p:nvPr/>
          </p:nvSpPr>
          <p:spPr>
            <a:xfrm>
              <a:off x="4559198" y="1207740"/>
              <a:ext cx="3073390" cy="304770"/>
            </a:xfrm>
            <a:prstGeom prst="rect">
              <a:avLst>
                <a:gd name="adj" fmla="val 50015"/>
              </a:avLst>
            </a:prstGeom>
            <a:solidFill>
              <a:srgbClr val="0031D8"/>
            </a:solidFill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2</a:t>
              </a:r>
              <a:endParaRPr lang="en-US" sz="1050" dirty="0"/>
            </a:p>
          </p:txBody>
        </p:sp>
        <p:sp>
          <p:nvSpPr>
            <p:cNvPr id="10" name="DSGRP_20"/>
            <p:cNvSpPr/>
            <p:nvPr/>
          </p:nvSpPr>
          <p:spPr>
            <a:xfrm>
              <a:off x="4559198" y="1636410"/>
              <a:ext cx="770931" cy="2095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500" b="1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差し込む</a:t>
              </a:r>
              <a:endParaRPr lang="en-US" sz="1500" dirty="0"/>
            </a:p>
          </p:txBody>
        </p:sp>
        <p:sp>
          <p:nvSpPr>
            <p:cNvPr id="11" name="DSGRP_20"/>
            <p:cNvSpPr/>
            <p:nvPr/>
          </p:nvSpPr>
          <p:spPr>
            <a:xfrm>
              <a:off x="4559198" y="2007840"/>
              <a:ext cx="1555120" cy="190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3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役割変数のまま入力</a:t>
              </a:r>
              <a:endParaRPr lang="en-US" sz="1350" dirty="0"/>
            </a:p>
          </p:txBody>
        </p:sp>
      </p:grpSp>
      <p:sp>
        <p:nvSpPr>
          <p:cNvPr id="12" name="Text 10"/>
          <p:cNvSpPr/>
          <p:nvPr/>
        </p:nvSpPr>
        <p:spPr>
          <a:xfrm>
            <a:off x="7899410" y="1527688"/>
            <a:ext cx="342900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700" dirty="0"/>
          </a:p>
        </p:txBody>
      </p:sp>
      <p:grpSp>
        <p:nvGrpSpPr>
          <p:cNvPr id="26" name="DSGRP_21"/>
          <p:cNvGrpSpPr/>
          <p:nvPr/>
        </p:nvGrpSpPr>
        <p:grpSpPr>
          <a:xfrm>
            <a:off x="8356702" y="1055400"/>
            <a:ext cx="3378159" cy="1341150"/>
            <a:chOff x="8356702" y="1055400"/>
            <a:chExt cx="3378159" cy="1341150"/>
          </a:xfrm>
        </p:grpSpPr>
        <p:sp>
          <p:nvSpPr>
            <p:cNvPr id="13" name="DSGRP_21"/>
            <p:cNvSpPr/>
            <p:nvPr/>
          </p:nvSpPr>
          <p:spPr>
            <a:xfrm>
              <a:off x="8356702" y="1055400"/>
              <a:ext cx="3378159" cy="1341150"/>
            </a:xfrm>
            <a:prstGeom prst="roundRect">
              <a:avLst>
                <a:gd name="adj" fmla="val 5679"/>
              </a:avLst>
            </a:prstGeom>
            <a:solidFill>
              <a:srgbClr val="F2F2F2"/>
            </a:solidFill>
            <a:ln/>
          </p:spPr>
        </p:sp>
        <p:sp>
          <p:nvSpPr>
            <p:cNvPr id="14" name="DSGRP_21"/>
            <p:cNvSpPr/>
            <p:nvPr/>
          </p:nvSpPr>
          <p:spPr>
            <a:xfrm>
              <a:off x="8509041" y="1207740"/>
              <a:ext cx="3073298" cy="304770"/>
            </a:xfrm>
            <a:prstGeom prst="rect">
              <a:avLst>
                <a:gd name="adj" fmla="val 50015"/>
              </a:avLst>
            </a:prstGeom>
            <a:solidFill>
              <a:srgbClr val="0031D8"/>
            </a:solidFill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3</a:t>
              </a:r>
              <a:endParaRPr lang="en-US" sz="1050" dirty="0"/>
            </a:p>
          </p:txBody>
        </p:sp>
        <p:sp>
          <p:nvSpPr>
            <p:cNvPr id="15" name="DSGRP_21"/>
            <p:cNvSpPr/>
            <p:nvPr/>
          </p:nvSpPr>
          <p:spPr>
            <a:xfrm>
              <a:off x="8509041" y="1636410"/>
              <a:ext cx="385511" cy="2095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500" b="1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出す</a:t>
              </a:r>
              <a:endParaRPr lang="en-US" sz="1500" dirty="0"/>
            </a:p>
          </p:txBody>
        </p:sp>
        <p:sp>
          <p:nvSpPr>
            <p:cNvPr id="16" name="DSGRP_21"/>
            <p:cNvSpPr/>
            <p:nvPr/>
          </p:nvSpPr>
          <p:spPr>
            <a:xfrm>
              <a:off x="8509041" y="2007840"/>
              <a:ext cx="1124163" cy="190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3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印刷/PDF 出力</a:t>
              </a:r>
              <a:endParaRPr lang="en-US" sz="1350" dirty="0"/>
            </a:p>
          </p:txBody>
        </p:sp>
      </p:grpSp>
      <p:sp>
        <p:nvSpPr>
          <p:cNvPr id="17" name="Shape 15"/>
          <p:cNvSpPr/>
          <p:nvPr/>
        </p:nvSpPr>
        <p:spPr>
          <a:xfrm>
            <a:off x="457200" y="6254222"/>
            <a:ext cx="11277570" cy="299009"/>
          </a:xfrm>
          <a:prstGeom prst="rect">
            <a:avLst/>
          </a:prstGeom>
          <a:ln/>
        </p:spPr>
      </p:sp>
      <p:sp>
        <p:nvSpPr>
          <p:cNvPr id="18" name="Shape 16"/>
          <p:cNvSpPr/>
          <p:nvPr/>
        </p:nvSpPr>
        <p:spPr>
          <a:xfrm>
            <a:off x="457200" y="6254222"/>
            <a:ext cx="1127757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368522"/>
            <a:ext cx="2028322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使い方: 番号+矢印で手順を明確化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106120" y="114300"/>
            <a:ext cx="9334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（組織名）限定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146170" y="312450"/>
            <a:ext cx="893460" cy="236190"/>
          </a:xfrm>
          <a:prstGeom prst="rect">
            <a:avLst>
              <a:gd name="adj" fmla="val 16144"/>
            </a:avLst>
          </a:prstGeom>
          <a:solidFill>
            <a:srgbClr val="FFEEE2"/>
          </a:solidFill>
          <a:ln/>
        </p:spPr>
        <p:txBody>
          <a:bodyPr wrap="square" lIns="38100" tIns="76200" rIns="76200" bIns="3810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C3E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機密性2情報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52430" y="6583680"/>
            <a:ext cx="1135868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（組織名）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631625" y="6583680"/>
            <a:ext cx="407914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 / 28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3880"/>
            <a:ext cx="7959029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主張は</a:t>
            </a:r>
            <a:pPr algn="l" indent="0" marL="0">
              <a:buNone/>
            </a:pPr>
            <a:r>
              <a:rPr lang="en-US" sz="27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結論→根拠→裏付け</a:t>
            </a:r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のツリーで構造化します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 flipH="1">
            <a:off x="3562502" y="2959456"/>
            <a:ext cx="2528590" cy="38103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1184" y="2959456"/>
            <a:ext cx="4755" cy="45720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1184" y="2959456"/>
            <a:ext cx="2528590" cy="45720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grpSp>
        <p:nvGrpSpPr>
          <p:cNvPr id="30" name="DSGRP_22"/>
          <p:cNvGrpSpPr/>
          <p:nvPr/>
        </p:nvGrpSpPr>
        <p:grpSpPr>
          <a:xfrm>
            <a:off x="5152461" y="2502256"/>
            <a:ext cx="1886956" cy="453268"/>
            <a:chOff x="5152461" y="2502256"/>
            <a:chExt cx="1886956" cy="453268"/>
          </a:xfrm>
        </p:grpSpPr>
        <p:sp>
          <p:nvSpPr>
            <p:cNvPr id="6" name="DSGRP_22"/>
            <p:cNvSpPr/>
            <p:nvPr/>
          </p:nvSpPr>
          <p:spPr>
            <a:xfrm>
              <a:off x="5152461" y="2502256"/>
              <a:ext cx="1886956" cy="453268"/>
            </a:xfrm>
            <a:prstGeom prst="roundRect">
              <a:avLst>
                <a:gd name="adj" fmla="val 16805"/>
              </a:avLst>
            </a:prstGeom>
            <a:solidFill>
              <a:srgbClr val="0031D8"/>
            </a:solidFill>
            <a:ln w="9525">
              <a:solidFill>
                <a:srgbClr val="0031D8"/>
              </a:solidFill>
              <a:prstDash val="solid"/>
            </a:ln>
          </p:spPr>
        </p:sp>
        <p:sp>
          <p:nvSpPr>
            <p:cNvPr id="7" name="DSGRP_22"/>
            <p:cNvSpPr/>
            <p:nvPr/>
          </p:nvSpPr>
          <p:spPr>
            <a:xfrm>
              <a:off x="5314401" y="2626065"/>
              <a:ext cx="1563167" cy="190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この構成を採用する</a:t>
              </a:r>
              <a:endParaRPr lang="en-US" sz="1350" dirty="0"/>
            </a:p>
          </p:txBody>
        </p:sp>
      </p:grpSp>
      <p:sp>
        <p:nvSpPr>
          <p:cNvPr id="8" name="Shape 6"/>
          <p:cNvSpPr/>
          <p:nvPr/>
        </p:nvSpPr>
        <p:spPr>
          <a:xfrm>
            <a:off x="3560948" y="3795034"/>
            <a:ext cx="4755" cy="382128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grpSp>
        <p:nvGrpSpPr>
          <p:cNvPr id="31" name="DSGRP_23"/>
          <p:cNvGrpSpPr/>
          <p:nvPr/>
        </p:nvGrpSpPr>
        <p:grpSpPr>
          <a:xfrm>
            <a:off x="2769718" y="3336646"/>
            <a:ext cx="1591879" cy="453268"/>
            <a:chOff x="2769718" y="3336646"/>
            <a:chExt cx="1591879" cy="453268"/>
          </a:xfrm>
        </p:grpSpPr>
        <p:sp>
          <p:nvSpPr>
            <p:cNvPr id="9" name="DSGRP_23"/>
            <p:cNvSpPr/>
            <p:nvPr/>
          </p:nvSpPr>
          <p:spPr>
            <a:xfrm>
              <a:off x="2769718" y="3336646"/>
              <a:ext cx="1591879" cy="453268"/>
            </a:xfrm>
            <a:prstGeom prst="roundRect">
              <a:avLst>
                <a:gd name="adj" fmla="val 16805"/>
              </a:avLst>
            </a:prstGeom>
            <a:solidFill>
              <a:srgbClr val="F2F2F2"/>
            </a:solidFill>
            <a:ln w="9525">
              <a:solidFill>
                <a:srgbClr val="999999"/>
              </a:solidFill>
              <a:prstDash val="solid"/>
            </a:ln>
          </p:spPr>
        </p:sp>
        <p:sp>
          <p:nvSpPr>
            <p:cNvPr id="10" name="DSGRP_23"/>
            <p:cNvSpPr/>
            <p:nvPr/>
          </p:nvSpPr>
          <p:spPr>
            <a:xfrm>
              <a:off x="2931566" y="3460455"/>
              <a:ext cx="1268090" cy="190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buNone/>
              </a:pPr>
              <a:r>
                <a:rPr lang="en-US" sz="1350" b="1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① 伝わりやすさ</a:t>
              </a:r>
              <a:endParaRPr lang="en-US" sz="1350" dirty="0"/>
            </a:p>
          </p:txBody>
        </p:sp>
      </p:grpSp>
      <p:grpSp>
        <p:nvGrpSpPr>
          <p:cNvPr id="32" name="DSGRP_24"/>
          <p:cNvGrpSpPr/>
          <p:nvPr/>
        </p:nvGrpSpPr>
        <p:grpSpPr>
          <a:xfrm>
            <a:off x="2529139" y="4170944"/>
            <a:ext cx="2073036" cy="407640"/>
            <a:chOff x="2529139" y="4170944"/>
            <a:chExt cx="2073036" cy="407640"/>
          </a:xfrm>
        </p:grpSpPr>
        <p:sp>
          <p:nvSpPr>
            <p:cNvPr id="11" name="DSGRP_24"/>
            <p:cNvSpPr/>
            <p:nvPr/>
          </p:nvSpPr>
          <p:spPr>
            <a:xfrm>
              <a:off x="2529139" y="4170944"/>
              <a:ext cx="2073036" cy="407640"/>
            </a:xfrm>
            <a:prstGeom prst="roundRect">
              <a:avLst>
                <a:gd name="adj" fmla="val 18685"/>
              </a:avLst>
            </a:prstGeom>
            <a:solidFill>
              <a:srgbClr val="E6E6E6"/>
            </a:solidFill>
            <a:ln w="9525">
              <a:solidFill>
                <a:srgbClr val="999999"/>
              </a:solidFill>
              <a:prstDash val="solid"/>
            </a:ln>
          </p:spPr>
        </p:sp>
        <p:sp>
          <p:nvSpPr>
            <p:cNvPr id="12" name="DSGRP_24"/>
            <p:cNvSpPr/>
            <p:nvPr/>
          </p:nvSpPr>
          <p:spPr>
            <a:xfrm>
              <a:off x="2691079" y="4294754"/>
              <a:ext cx="1749156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結論先出しで要点が即伝わる</a:t>
              </a:r>
              <a:endParaRPr lang="en-US" sz="1050" dirty="0"/>
            </a:p>
          </p:txBody>
        </p:sp>
      </p:grpSp>
      <p:sp>
        <p:nvSpPr>
          <p:cNvPr id="13" name="Shape 11"/>
          <p:cNvSpPr/>
          <p:nvPr/>
        </p:nvSpPr>
        <p:spPr>
          <a:xfrm>
            <a:off x="6091184" y="3871295"/>
            <a:ext cx="4755" cy="382128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grpSp>
        <p:nvGrpSpPr>
          <p:cNvPr id="33" name="DSGRP_25"/>
          <p:cNvGrpSpPr/>
          <p:nvPr/>
        </p:nvGrpSpPr>
        <p:grpSpPr>
          <a:xfrm>
            <a:off x="5387736" y="3412815"/>
            <a:ext cx="1416406" cy="453268"/>
            <a:chOff x="5387736" y="3412815"/>
            <a:chExt cx="1416406" cy="453268"/>
          </a:xfrm>
        </p:grpSpPr>
        <p:sp>
          <p:nvSpPr>
            <p:cNvPr id="14" name="DSGRP_25"/>
            <p:cNvSpPr/>
            <p:nvPr/>
          </p:nvSpPr>
          <p:spPr>
            <a:xfrm>
              <a:off x="5387736" y="3412815"/>
              <a:ext cx="1416406" cy="453268"/>
            </a:xfrm>
            <a:prstGeom prst="roundRect">
              <a:avLst>
                <a:gd name="adj" fmla="val 16805"/>
              </a:avLst>
            </a:prstGeom>
            <a:solidFill>
              <a:srgbClr val="F2F2F2"/>
            </a:solidFill>
            <a:ln w="9525">
              <a:solidFill>
                <a:srgbClr val="999999"/>
              </a:solidFill>
              <a:prstDash val="solid"/>
            </a:ln>
          </p:spPr>
        </p:sp>
        <p:sp>
          <p:nvSpPr>
            <p:cNvPr id="15" name="DSGRP_25"/>
            <p:cNvSpPr/>
            <p:nvPr/>
          </p:nvSpPr>
          <p:spPr>
            <a:xfrm>
              <a:off x="5549676" y="3536625"/>
              <a:ext cx="1092525" cy="190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buNone/>
              </a:pPr>
              <a:r>
                <a:rPr lang="en-US" sz="1350" b="1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② 作りやすさ</a:t>
              </a:r>
              <a:endParaRPr lang="en-US" sz="1350" dirty="0"/>
            </a:p>
          </p:txBody>
        </p:sp>
      </p:grpSp>
      <p:grpSp>
        <p:nvGrpSpPr>
          <p:cNvPr id="34" name="DSGRP_26"/>
          <p:cNvGrpSpPr/>
          <p:nvPr/>
        </p:nvGrpSpPr>
        <p:grpSpPr>
          <a:xfrm>
            <a:off x="5126035" y="4247114"/>
            <a:ext cx="1939625" cy="407640"/>
            <a:chOff x="5126035" y="4247114"/>
            <a:chExt cx="1939625" cy="407640"/>
          </a:xfrm>
        </p:grpSpPr>
        <p:sp>
          <p:nvSpPr>
            <p:cNvPr id="16" name="DSGRP_26"/>
            <p:cNvSpPr/>
            <p:nvPr/>
          </p:nvSpPr>
          <p:spPr>
            <a:xfrm>
              <a:off x="5126035" y="4247114"/>
              <a:ext cx="1939625" cy="407640"/>
            </a:xfrm>
            <a:prstGeom prst="roundRect">
              <a:avLst>
                <a:gd name="adj" fmla="val 18685"/>
              </a:avLst>
            </a:prstGeom>
            <a:solidFill>
              <a:srgbClr val="E6E6E6"/>
            </a:solidFill>
            <a:ln w="9525">
              <a:solidFill>
                <a:srgbClr val="999999"/>
              </a:solidFill>
              <a:prstDash val="solid"/>
            </a:ln>
          </p:spPr>
        </p:sp>
        <p:sp>
          <p:nvSpPr>
            <p:cNvPr id="17" name="DSGRP_26"/>
            <p:cNvSpPr/>
            <p:nvPr/>
          </p:nvSpPr>
          <p:spPr>
            <a:xfrm>
              <a:off x="5287975" y="4370923"/>
              <a:ext cx="1615836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トークンで色・余白が一貫</a:t>
              </a:r>
              <a:endParaRPr lang="en-US" sz="1050" dirty="0"/>
            </a:p>
          </p:txBody>
        </p:sp>
      </p:grpSp>
      <p:sp>
        <p:nvSpPr>
          <p:cNvPr id="18" name="Shape 16"/>
          <p:cNvSpPr/>
          <p:nvPr/>
        </p:nvSpPr>
        <p:spPr>
          <a:xfrm>
            <a:off x="8621329" y="3871295"/>
            <a:ext cx="0" cy="382128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grpSp>
        <p:nvGrpSpPr>
          <p:cNvPr id="35" name="DSGRP_27"/>
          <p:cNvGrpSpPr/>
          <p:nvPr/>
        </p:nvGrpSpPr>
        <p:grpSpPr>
          <a:xfrm>
            <a:off x="7832202" y="3412815"/>
            <a:ext cx="1587856" cy="453268"/>
            <a:chOff x="7832202" y="3412815"/>
            <a:chExt cx="1587856" cy="453268"/>
          </a:xfrm>
        </p:grpSpPr>
        <p:sp>
          <p:nvSpPr>
            <p:cNvPr id="19" name="DSGRP_27"/>
            <p:cNvSpPr/>
            <p:nvPr/>
          </p:nvSpPr>
          <p:spPr>
            <a:xfrm>
              <a:off x="7832202" y="3412815"/>
              <a:ext cx="1587856" cy="453268"/>
            </a:xfrm>
            <a:prstGeom prst="roundRect">
              <a:avLst>
                <a:gd name="adj" fmla="val 16805"/>
              </a:avLst>
            </a:prstGeom>
            <a:solidFill>
              <a:srgbClr val="F2F2F2"/>
            </a:solidFill>
            <a:ln w="9525">
              <a:solidFill>
                <a:srgbClr val="999999"/>
              </a:solidFill>
              <a:prstDash val="solid"/>
            </a:ln>
          </p:spPr>
        </p:sp>
        <p:sp>
          <p:nvSpPr>
            <p:cNvPr id="20" name="DSGRP_27"/>
            <p:cNvSpPr/>
            <p:nvPr/>
          </p:nvSpPr>
          <p:spPr>
            <a:xfrm>
              <a:off x="7994142" y="3536625"/>
              <a:ext cx="1263975" cy="190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buNone/>
              </a:pPr>
              <a:r>
                <a:rPr lang="en-US" sz="1350" b="1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③ 保守しやすさ</a:t>
              </a:r>
              <a:endParaRPr lang="en-US" sz="1350" dirty="0"/>
            </a:p>
          </p:txBody>
        </p:sp>
      </p:grpSp>
      <p:grpSp>
        <p:nvGrpSpPr>
          <p:cNvPr id="36" name="DSGRP_28"/>
          <p:cNvGrpSpPr/>
          <p:nvPr/>
        </p:nvGrpSpPr>
        <p:grpSpPr>
          <a:xfrm>
            <a:off x="7660935" y="4247114"/>
            <a:ext cx="1930298" cy="407640"/>
            <a:chOff x="7660935" y="4247114"/>
            <a:chExt cx="1930298" cy="407640"/>
          </a:xfrm>
        </p:grpSpPr>
        <p:sp>
          <p:nvSpPr>
            <p:cNvPr id="21" name="DSGRP_28"/>
            <p:cNvSpPr/>
            <p:nvPr/>
          </p:nvSpPr>
          <p:spPr>
            <a:xfrm>
              <a:off x="7660935" y="4247114"/>
              <a:ext cx="1930298" cy="407640"/>
            </a:xfrm>
            <a:prstGeom prst="roundRect">
              <a:avLst>
                <a:gd name="adj" fmla="val 18685"/>
              </a:avLst>
            </a:prstGeom>
            <a:solidFill>
              <a:srgbClr val="E6E6E6"/>
            </a:solidFill>
            <a:ln w="9525">
              <a:solidFill>
                <a:srgbClr val="999999"/>
              </a:solidFill>
              <a:prstDash val="solid"/>
            </a:ln>
          </p:spPr>
        </p:sp>
        <p:sp>
          <p:nvSpPr>
            <p:cNvPr id="22" name="DSGRP_28"/>
            <p:cNvSpPr/>
            <p:nvPr/>
          </p:nvSpPr>
          <p:spPr>
            <a:xfrm>
              <a:off x="7822875" y="4370923"/>
              <a:ext cx="1606509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単一情報源で改修が局所化</a:t>
              </a:r>
              <a:endParaRPr lang="en-US" sz="1050" dirty="0"/>
            </a:p>
          </p:txBody>
        </p:sp>
      </p:grpSp>
      <p:sp>
        <p:nvSpPr>
          <p:cNvPr id="23" name="Shape 21"/>
          <p:cNvSpPr/>
          <p:nvPr/>
        </p:nvSpPr>
        <p:spPr>
          <a:xfrm>
            <a:off x="457200" y="6254222"/>
            <a:ext cx="11277570" cy="299009"/>
          </a:xfrm>
          <a:prstGeom prst="rect">
            <a:avLst/>
          </a:prstGeom>
          <a:ln/>
        </p:spPr>
      </p:sp>
      <p:sp>
        <p:nvSpPr>
          <p:cNvPr id="24" name="Shape 22"/>
          <p:cNvSpPr/>
          <p:nvPr/>
        </p:nvSpPr>
        <p:spPr>
          <a:xfrm>
            <a:off x="457200" y="6254222"/>
            <a:ext cx="1127757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6368522"/>
            <a:ext cx="516700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使い方: 頂点=結論、第2階層=MECEな根拠、末端=裏付け(ピラミッド・プリンシプル)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106120" y="114300"/>
            <a:ext cx="9334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（組織名）限定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146170" y="312450"/>
            <a:ext cx="893460" cy="236190"/>
          </a:xfrm>
          <a:prstGeom prst="rect">
            <a:avLst>
              <a:gd name="adj" fmla="val 16144"/>
            </a:avLst>
          </a:prstGeom>
          <a:solidFill>
            <a:srgbClr val="FFEEE2"/>
          </a:solidFill>
          <a:ln/>
        </p:spPr>
        <p:txBody>
          <a:bodyPr wrap="square" lIns="38100" tIns="76200" rIns="76200" bIns="3810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C3E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機密性2情報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52430" y="6583680"/>
            <a:ext cx="1135868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（組織名）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631625" y="6583680"/>
            <a:ext cx="407914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 / 28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6995"/>
            <a:ext cx="9307129" cy="1154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</a:t>
            </a:r>
            <a:pPr algn="l" indent="0" marL="0">
              <a:buNone/>
            </a:pPr>
            <a:r>
              <a:rPr lang="en-US" sz="27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引用レイアウトは、事実に基づく実利用者の声だけを載せます。誇張や捏造はしません。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6124560"/>
            <a:ext cx="11277387" cy="42867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［氏名・肩書きを記入］</a:t>
            </a:r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— ［部署／団体を記入］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6124560"/>
            <a:ext cx="11277387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3"/>
          <p:cNvSpPr/>
          <p:nvPr/>
        </p:nvSpPr>
        <p:spPr>
          <a:xfrm>
            <a:off x="11106120" y="114300"/>
            <a:ext cx="9334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（組織名）限定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146170" y="312450"/>
            <a:ext cx="893460" cy="236190"/>
          </a:xfrm>
          <a:prstGeom prst="rect">
            <a:avLst>
              <a:gd name="adj" fmla="val 16144"/>
            </a:avLst>
          </a:prstGeom>
          <a:solidFill>
            <a:srgbClr val="FFEEE2"/>
          </a:solidFill>
          <a:ln/>
        </p:spPr>
        <p:txBody>
          <a:bodyPr wrap="square" lIns="38100" tIns="76200" rIns="76200" bIns="3810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C3E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機密性2情報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2430" y="6583680"/>
            <a:ext cx="1135868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（組織名）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631625" y="6583680"/>
            <a:ext cx="407914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14 / 28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［全面画像を差し込む(著作物は各自用意)］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827471"/>
            <a:ext cx="5013564" cy="702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全面ビジュアルで印象づける</a:t>
            </a:r>
            <a:endParaRPr lang="en-US" sz="270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要点は1行、スクリムで重ね文字のコントラスト（AA）を確保。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106120" y="114300"/>
            <a:ext cx="9334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（組織名）限定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146170" y="312450"/>
            <a:ext cx="893460" cy="236190"/>
          </a:xfrm>
          <a:prstGeom prst="rect">
            <a:avLst>
              <a:gd name="adj" fmla="val 16144"/>
            </a:avLst>
          </a:prstGeom>
          <a:solidFill>
            <a:srgbClr val="FFEEE2"/>
          </a:solidFill>
          <a:ln/>
        </p:spPr>
        <p:txBody>
          <a:bodyPr wrap="square" lIns="38100" tIns="76200" rIns="76200" bIns="3810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C3E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機密性2情報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52430" y="6583680"/>
            <a:ext cx="1135868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（組織名）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631625" y="6583680"/>
            <a:ext cx="407914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 / 28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3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3880"/>
            <a:ext cx="5566776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クロージングは行動喚起で締めます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2506096"/>
            <a:ext cx="11024006" cy="1261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このテンプレートで、次の資料を作り始めてください</a:t>
            </a:r>
            <a:endParaRPr lang="en-US" sz="4280" dirty="0"/>
          </a:p>
        </p:txBody>
      </p:sp>
      <p:sp>
        <p:nvSpPr>
          <p:cNvPr id="4" name="Shape 2"/>
          <p:cNvSpPr/>
          <p:nvPr/>
        </p:nvSpPr>
        <p:spPr>
          <a:xfrm>
            <a:off x="457200" y="6124560"/>
            <a:ext cx="11277570" cy="428671"/>
          </a:xfrm>
          <a:prstGeom prst="rect">
            <a:avLst/>
          </a:prstGeom>
          <a:ln/>
        </p:spPr>
      </p:sp>
      <p:sp>
        <p:nvSpPr>
          <p:cNvPr id="5" name="Shape 3"/>
          <p:cNvSpPr/>
          <p:nvPr/>
        </p:nvSpPr>
        <p:spPr>
          <a:xfrm>
            <a:off x="457200" y="6124560"/>
            <a:ext cx="11277570" cy="95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296010"/>
            <a:ext cx="3380262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連絡先: ［メール／チャンネルを記入］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42232" y="6296010"/>
            <a:ext cx="2808762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資料・テンプレート: ［リンク］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06120" y="114300"/>
            <a:ext cx="9334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（組織名）限定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146170" y="312450"/>
            <a:ext cx="893460" cy="236190"/>
          </a:xfrm>
          <a:prstGeom prst="rect">
            <a:avLst>
              <a:gd name="adj" fmla="val 16144"/>
            </a:avLst>
          </a:prstGeom>
          <a:solidFill>
            <a:srgbClr val="FFEEE2"/>
          </a:solidFill>
          <a:ln/>
        </p:spPr>
        <p:txBody>
          <a:bodyPr wrap="square" lIns="38100" tIns="76200" rIns="76200" bIns="3810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C3E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機密性2情報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52430" y="6583680"/>
            <a:ext cx="1135868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（組織名）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631625" y="6583680"/>
            <a:ext cx="407914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16 / 28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3880"/>
            <a:ext cx="685800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103041"/>
            <a:ext cx="11264402" cy="43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A-pyramid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Minto, </a:t>
            </a:r>
            <a:pPr algn="l" marL="190500" indent="-190500">
              <a:buSzPct val="100000"/>
              <a:buChar char="•"/>
            </a:pPr>
            <a:r>
              <a:rPr lang="en-US" sz="1050" i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 Minto Pyramid Principle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(2009)</a:t>
            </a:r>
            <a:endParaRPr lang="en-US" sz="1050" dirty="0"/>
          </a:p>
          <a:p>
            <a:pPr algn="l" marL="190500" indent="-190500">
              <a:buSzPct val="100000"/>
              <a:buChar char="•"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A-assertion-evidence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Alley, </a:t>
            </a:r>
            <a:pPr algn="l" marL="190500" indent="-190500">
              <a:buSzPct val="100000"/>
              <a:buChar char="•"/>
            </a:pPr>
            <a:r>
              <a:rPr lang="en-US" sz="1050" i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 Craft of Scientific Presentations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(2013)</a:t>
            </a:r>
            <a:endParaRPr lang="en-US" sz="1050" dirty="0"/>
          </a:p>
          <a:p>
            <a:pPr algn="l" marL="190500" indent="-190500">
              <a:buSzPct val="100000"/>
              <a:buChar char="•"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A-hook-throughline-cta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Anderson, </a:t>
            </a:r>
            <a:pPr algn="l" marL="190500" indent="-190500">
              <a:buSzPct val="100000"/>
              <a:buChar char="•"/>
            </a:pPr>
            <a:r>
              <a:rPr lang="en-US" sz="10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TED Talks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(2016) </a:t>
            </a:r>
            <a:pPr algn="l" marL="190500" indent="-190500">
              <a:buSzPct val="100000"/>
              <a:buChar char="•"/>
            </a:pPr>
            <a:r>
              <a:rPr lang="en-US" sz="10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［URL要記入］</a:t>
            </a:r>
            <a:endParaRPr lang="en-US" sz="1050" dirty="0"/>
          </a:p>
          <a:p>
            <a:pPr algn="l" marL="190500" indent="-190500">
              <a:buSzPct val="100000"/>
              <a:buChar char="•"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A-signposting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Lidwell et al., </a:t>
            </a:r>
            <a:pPr algn="l" marL="190500" indent="-190500">
              <a:buSzPct val="100000"/>
              <a:buChar char="•"/>
            </a:pPr>
            <a:r>
              <a:rPr lang="en-US" sz="1050" i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Universal Principles of Design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(2010)</a:t>
            </a:r>
            <a:endParaRPr lang="en-US" sz="1050" dirty="0"/>
          </a:p>
          <a:p>
            <a:pPr algn="l" marL="190500" indent="-190500">
              <a:buSzPct val="100000"/>
              <a:buChar char="•"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A-success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Heath &amp; Heath, </a:t>
            </a:r>
            <a:pPr algn="l" marL="190500" indent="-190500">
              <a:buSzPct val="100000"/>
              <a:buChar char="•"/>
            </a:pPr>
            <a:r>
              <a:rPr lang="en-US" sz="1050" i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Made to Stick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(2007)</a:t>
            </a:r>
            <a:endParaRPr lang="en-US" sz="1050" dirty="0"/>
          </a:p>
          <a:p>
            <a:pPr algn="l" marL="190500" indent="-190500">
              <a:buSzPct val="100000"/>
              <a:buChar char="•"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B-visual-hierarchy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Lidwell et al., </a:t>
            </a:r>
            <a:pPr algn="l" marL="190500" indent="-190500">
              <a:buSzPct val="100000"/>
              <a:buChar char="•"/>
            </a:pPr>
            <a:r>
              <a:rPr lang="en-US" sz="1050" i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Universal Principles of Design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(2010)</a:t>
            </a:r>
            <a:endParaRPr lang="en-US" sz="1050" dirty="0"/>
          </a:p>
          <a:p>
            <a:pPr algn="l" marL="190500" indent="-190500">
              <a:buSzPct val="100000"/>
              <a:buChar char="•"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B-reading-pattern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Nielsen, "F-Shaped Pattern" (NN/g, 2006)</a:t>
            </a:r>
            <a:endParaRPr lang="en-US" sz="1050" dirty="0"/>
          </a:p>
          <a:p>
            <a:pPr algn="l" marL="190500" indent="-190500">
              <a:buSzPct val="100000"/>
              <a:buChar char="•"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B-crap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Williams, </a:t>
            </a:r>
            <a:pPr algn="l" marL="190500" indent="-190500">
              <a:buSzPct val="100000"/>
              <a:buChar char="•"/>
            </a:pPr>
            <a:r>
              <a:rPr lang="en-US" sz="1050" i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 Non-Designer's Design Book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(2014)</a:t>
            </a:r>
            <a:endParaRPr lang="en-US" sz="1050" dirty="0"/>
          </a:p>
          <a:p>
            <a:pPr algn="l" marL="190500" indent="-190500">
              <a:buSzPct val="100000"/>
              <a:buChar char="•"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C-cleveland-mcgill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Cleveland &amp; McGill, </a:t>
            </a:r>
            <a:pPr algn="l" marL="190500" indent="-190500">
              <a:buSzPct val="100000"/>
              <a:buChar char="•"/>
            </a:pPr>
            <a:r>
              <a:rPr lang="en-US" sz="1050" i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JASA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(1984)</a:t>
            </a:r>
            <a:endParaRPr lang="en-US" sz="1050" dirty="0"/>
          </a:p>
          <a:p>
            <a:pPr algn="l" marL="190500" indent="-190500">
              <a:buSzPct val="100000"/>
              <a:buChar char="•"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C-data-ink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Tufte, </a:t>
            </a:r>
            <a:pPr algn="l" marL="190500" indent="-190500">
              <a:buSzPct val="100000"/>
              <a:buChar char="•"/>
            </a:pPr>
            <a:r>
              <a:rPr lang="en-US" sz="1050" i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 Visual Display of Quantitative Information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(1983)</a:t>
            </a:r>
            <a:endParaRPr lang="en-US" sz="1050" dirty="0"/>
          </a:p>
          <a:p>
            <a:pPr algn="l" marL="190500" indent="-190500">
              <a:buSzPct val="100000"/>
              <a:buChar char="•"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D-clt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Sweller (1988)</a:t>
            </a:r>
            <a:endParaRPr lang="en-US" sz="1050" dirty="0"/>
          </a:p>
          <a:p>
            <a:pPr algn="l" marL="190500" indent="-190500">
              <a:buSzPct val="100000"/>
              <a:buChar char="•"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D-miller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Miller, </a:t>
            </a:r>
            <a:pPr algn="l" marL="190500" indent="-190500">
              <a:buSzPct val="100000"/>
              <a:buChar char="•"/>
            </a:pPr>
            <a:r>
              <a:rPr lang="en-US" sz="1050" i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Psychological Review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(1956)</a:t>
            </a:r>
            <a:endParaRPr lang="en-US" sz="1050" dirty="0"/>
          </a:p>
          <a:p>
            <a:pPr algn="l" marL="190500" indent="-190500">
              <a:buSzPct val="100000"/>
              <a:buChar char="•"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D-hick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Hick (1952)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; Hyman (1953)</a:t>
            </a:r>
            <a:endParaRPr lang="en-US" sz="1050" dirty="0"/>
          </a:p>
          <a:p>
            <a:pPr algn="l" marL="190500" indent="-190500">
              <a:buSzPct val="100000"/>
              <a:buChar char="•"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D-serial-position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Murdock (1962)</a:t>
            </a:r>
            <a:endParaRPr lang="en-US" sz="1050" dirty="0"/>
          </a:p>
          <a:p>
            <a:pPr algn="l" marL="190500" indent="-190500">
              <a:buSzPct val="100000"/>
              <a:buChar char="•"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E-peak-end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Kahneman, </a:t>
            </a:r>
            <a:pPr algn="l" marL="190500" indent="-190500">
              <a:buSzPct val="100000"/>
              <a:buChar char="•"/>
            </a:pPr>
            <a:r>
              <a:rPr lang="en-US" sz="1050" i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Thinking, Fast and Slow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(2011)</a:t>
            </a:r>
            <a:endParaRPr lang="en-US" sz="1050" dirty="0"/>
          </a:p>
          <a:p>
            <a:pPr algn="l" marL="190500" indent="-190500">
              <a:buSzPct val="100000"/>
              <a:buChar char="•"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E-framing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Tversky &amp; Kahneman (1981)</a:t>
            </a:r>
            <a:endParaRPr lang="en-US" sz="1050" dirty="0"/>
          </a:p>
          <a:p>
            <a:pPr algn="l" marL="190500" indent="-190500">
              <a:buSzPct val="100000"/>
              <a:buChar char="•"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E-anchoring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Tversky &amp; Kahneman (1974)</a:t>
            </a:r>
            <a:endParaRPr lang="en-US" sz="1050" dirty="0"/>
          </a:p>
          <a:p>
            <a:pPr algn="l" marL="190500" indent="-190500">
              <a:buSzPct val="100000"/>
              <a:buChar char="•"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E-goal-gradient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Kivetz et al. (2006)</a:t>
            </a:r>
            <a:endParaRPr lang="en-US" sz="1050" dirty="0"/>
          </a:p>
          <a:p>
            <a:pPr algn="l" marL="190500" indent="-190500">
              <a:buSzPct val="100000"/>
              <a:buChar char="•"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A-action-title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McKinsey communication practice; Zelazny, </a:t>
            </a:r>
            <a:pPr algn="l" marL="190500" indent="-190500">
              <a:buSzPct val="100000"/>
              <a:buChar char="•"/>
            </a:pPr>
            <a:r>
              <a:rPr lang="en-US" sz="10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Say It With Charts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(2001) </a:t>
            </a:r>
            <a:pPr algn="l" marL="190500" indent="-190500">
              <a:buSzPct val="100000"/>
              <a:buChar char="•"/>
            </a:pPr>
            <a:r>
              <a:rPr lang="en-US" sz="10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［URL要記入］</a:t>
            </a:r>
            <a:endParaRPr lang="en-US" sz="1050" dirty="0"/>
          </a:p>
          <a:p>
            <a:pPr algn="l" marL="190500" indent="-190500">
              <a:buSzPct val="100000"/>
              <a:buChar char="•"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A-scqa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Minto (2009)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; Duarte, </a:t>
            </a:r>
            <a:pPr algn="l" marL="190500" indent="-190500">
              <a:buSzPct val="100000"/>
              <a:buChar char="•"/>
            </a:pPr>
            <a:r>
              <a:rPr lang="en-US" sz="10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Resonate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(2010)</a:t>
            </a:r>
            <a:endParaRPr lang="en-US" sz="1050" dirty="0"/>
          </a:p>
          <a:p>
            <a:pPr algn="l" marL="190500" indent="-190500">
              <a:buSzPct val="100000"/>
              <a:buChar char="•"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A-consistency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Williams, </a:t>
            </a:r>
            <a:pPr algn="l" marL="190500" indent="-190500">
              <a:buSzPct val="100000"/>
              <a:buChar char="•"/>
            </a:pPr>
            <a:r>
              <a:rPr lang="en-US" sz="1050" i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 Non-Designer's Design Book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(2014)</a:t>
            </a:r>
            <a:endParaRPr lang="en-US" sz="1050" dirty="0"/>
          </a:p>
          <a:p>
            <a:pPr algn="l" marL="190500" indent="-190500">
              <a:buSzPct val="100000"/>
              <a:buChar char="•"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A-10-20-30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Kawasaki, "The 10/20/30 Rule of PowerPoint" (2005)</a:t>
            </a:r>
            <a:endParaRPr lang="en-US" sz="1050" dirty="0"/>
          </a:p>
          <a:p>
            <a:pPr algn="l" marL="190500" indent="-190500">
              <a:buSzPct val="100000"/>
              <a:buChar char="•"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B-whitespace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White, </a:t>
            </a:r>
            <a:pPr algn="l" marL="190500" indent="-190500">
              <a:buSzPct val="100000"/>
              <a:buChar char="•"/>
            </a:pPr>
            <a:r>
              <a:rPr lang="en-US" sz="10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 Elements of Graphic Design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(2011) </a:t>
            </a:r>
            <a:pPr algn="l" marL="190500" indent="-190500">
              <a:buSzPct val="100000"/>
              <a:buChar char="•"/>
            </a:pPr>
            <a:r>
              <a:rPr lang="en-US" sz="10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［URL要記入］</a:t>
            </a:r>
            <a:endParaRPr lang="en-US" sz="1050" dirty="0"/>
          </a:p>
          <a:p>
            <a:pPr algn="l" marL="190500" indent="-190500">
              <a:buSzPct val="100000"/>
              <a:buChar char="•"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B-gestalt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Wertheimer (1923); Koffka (1935) </a:t>
            </a:r>
            <a:pPr algn="l" marL="190500" indent="-190500">
              <a:buSzPct val="100000"/>
              <a:buChar char="•"/>
            </a:pPr>
            <a:r>
              <a:rPr lang="en-US" sz="10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［URL要記入］</a:t>
            </a:r>
            <a:endParaRPr lang="en-US" sz="1050" dirty="0"/>
          </a:p>
          <a:p>
            <a:pPr algn="l" marL="190500" indent="-190500">
              <a:buSzPct val="100000"/>
              <a:buChar char="•"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B-signal-noise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Reynolds, </a:t>
            </a:r>
            <a:pPr algn="l" marL="190500" indent="-190500">
              <a:buSzPct val="100000"/>
              <a:buChar char="•"/>
            </a:pPr>
            <a:r>
              <a:rPr lang="en-US" sz="1050" i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Presentation Zen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(2019)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; Duarte, </a:t>
            </a:r>
            <a:pPr algn="l" marL="190500" indent="-190500">
              <a:buSzPct val="100000"/>
              <a:buChar char="•"/>
            </a:pPr>
            <a:r>
              <a:rPr lang="en-US" sz="10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slide:ology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(2008)</a:t>
            </a:r>
            <a:endParaRPr lang="en-US" sz="1050" dirty="0"/>
          </a:p>
          <a:p>
            <a:pPr algn="l" marL="190500" indent="-190500">
              <a:buSzPct val="100000"/>
              <a:buChar char="•"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B-von-restorff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von Restorff (1933)</a:t>
            </a:r>
            <a:endParaRPr lang="en-US" sz="1050" dirty="0"/>
          </a:p>
          <a:p>
            <a:pPr algn="l" marL="190500" indent="-190500">
              <a:buSzPct val="100000"/>
              <a:buChar char="•"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B-fitts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Fitts (1954)</a:t>
            </a:r>
            <a:endParaRPr lang="en-US" sz="1050" dirty="0"/>
          </a:p>
          <a:p>
            <a:pPr algn="l" marL="190500" indent="-190500">
              <a:buSzPct val="100000"/>
              <a:buChar char="•"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B-wcag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W3C WCAG 2.2</a:t>
            </a:r>
            <a:endParaRPr lang="en-US" sz="1050" dirty="0"/>
          </a:p>
          <a:p>
            <a:pPr algn="l" marL="190500" indent="-190500">
              <a:buSzPct val="100000"/>
              <a:buChar char="•"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C-preattentive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Ware, </a:t>
            </a:r>
            <a:pPr algn="l" marL="190500" indent="-190500">
              <a:buSzPct val="100000"/>
              <a:buChar char="•"/>
            </a:pPr>
            <a:r>
              <a:rPr lang="en-US" sz="10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Information Visualization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(2012) </a:t>
            </a:r>
            <a:pPr algn="l" marL="190500" indent="-190500">
              <a:buSzPct val="100000"/>
              <a:buChar char="•"/>
            </a:pPr>
            <a:r>
              <a:rPr lang="en-US" sz="10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［URL要記入］</a:t>
            </a:r>
            <a:endParaRPr lang="en-US" sz="1050" dirty="0"/>
          </a:p>
          <a:p>
            <a:pPr algn="l" marL="190500" indent="-190500">
              <a:buSzPct val="100000"/>
              <a:buChar char="•"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C-storytelling-data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Knaflic, </a:t>
            </a:r>
            <a:pPr algn="l" marL="190500" indent="-190500">
              <a:buSzPct val="100000"/>
              <a:buChar char="•"/>
            </a:pPr>
            <a:r>
              <a:rPr lang="en-US" sz="1050" i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Storytelling with Data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(2015)</a:t>
            </a:r>
            <a:endParaRPr lang="en-US" sz="1050" dirty="0"/>
          </a:p>
          <a:p>
            <a:pPr algn="l" marL="190500" indent="-190500">
              <a:buSzPct val="100000"/>
              <a:buChar char="•"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C-dashboard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Few, </a:t>
            </a:r>
            <a:pPr algn="l" marL="190500" indent="-190500">
              <a:buSzPct val="100000"/>
              <a:buChar char="•"/>
            </a:pPr>
            <a:r>
              <a:rPr lang="en-US" sz="10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Information Dashboard Design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(2006) </a:t>
            </a:r>
            <a:pPr algn="l" marL="190500" indent="-190500">
              <a:buSzPct val="100000"/>
              <a:buChar char="•"/>
            </a:pPr>
            <a:r>
              <a:rPr lang="en-US" sz="10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［URL要記入］</a:t>
            </a:r>
            <a:endParaRPr lang="en-US" sz="1050" dirty="0"/>
          </a:p>
          <a:p>
            <a:pPr algn="l" marL="190500" indent="-190500">
              <a:buSzPct val="100000"/>
              <a:buChar char="•"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D-multimedia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Mayer, </a:t>
            </a:r>
            <a:pPr algn="l" marL="190500" indent="-190500">
              <a:buSzPct val="100000"/>
              <a:buChar char="•"/>
            </a:pPr>
            <a:r>
              <a:rPr lang="en-US" sz="1050" i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Multimedia Learning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(2009)</a:t>
            </a:r>
            <a:endParaRPr lang="en-US" sz="1050" dirty="0"/>
          </a:p>
          <a:p>
            <a:pPr algn="l" marL="190500" indent="-190500">
              <a:buSzPct val="100000"/>
              <a:buChar char="•"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D-picture-superiority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Paivio (1971); Kosslyn, </a:t>
            </a:r>
            <a:pPr algn="l" marL="190500" indent="-190500">
              <a:buSzPct val="100000"/>
              <a:buChar char="•"/>
            </a:pPr>
            <a:r>
              <a:rPr lang="en-US" sz="10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Clear and to the Point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(2007) </a:t>
            </a:r>
            <a:pPr algn="l" marL="190500" indent="-190500">
              <a:buSzPct val="100000"/>
              <a:buChar char="•"/>
            </a:pPr>
            <a:r>
              <a:rPr lang="en-US" sz="10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［URL要記入］</a:t>
            </a:r>
            <a:endParaRPr lang="en-US" sz="1050" dirty="0"/>
          </a:p>
          <a:p>
            <a:pPr algn="l" marL="190500" indent="-190500">
              <a:buSzPct val="100000"/>
              <a:buChar char="•"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E-fluency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Alter &amp; Oppenheimer (2009)</a:t>
            </a:r>
            <a:endParaRPr lang="en-US" sz="1050" dirty="0"/>
          </a:p>
          <a:p>
            <a:pPr algn="l" marL="190500" indent="-190500">
              <a:buSzPct val="100000"/>
              <a:buChar char="•"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E-aesthetic-usability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Kurosu &amp; Kashimura (1995)</a:t>
            </a:r>
            <a:endParaRPr lang="en-US" sz="1050" dirty="0"/>
          </a:p>
          <a:p>
            <a:pPr algn="l" marL="190500" indent="-190500">
              <a:buSzPct val="100000"/>
              <a:buChar char="•"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E-default-effect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Thaler &amp; Sunstein, </a:t>
            </a:r>
            <a:pPr algn="l" marL="190500" indent="-190500">
              <a:buSzPct val="100000"/>
              <a:buChar char="•"/>
            </a:pPr>
            <a:r>
              <a:rPr lang="en-US" sz="1050" i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Nudge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(2008)</a:t>
            </a:r>
            <a:endParaRPr lang="en-US" sz="1050" dirty="0"/>
          </a:p>
          <a:p>
            <a:pPr algn="l" marL="190500" indent="-190500">
              <a:buSzPct val="100000"/>
              <a:buChar char="•"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E-cialdini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Cialdini, </a:t>
            </a:r>
            <a:pPr algn="l" marL="190500" indent="-190500">
              <a:buSzPct val="100000"/>
              <a:buChar char="•"/>
            </a:pPr>
            <a:r>
              <a:rPr lang="en-US" sz="1050" i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Influence</a:t>
            </a:r>
            <a:pPr algn="l" marL="190500" indent="-190500">
              <a:buSzPct val="100000"/>
              <a:buChar char="•"/>
            </a:pPr>
            <a:r>
              <a:rPr lang="en-US" sz="105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(2021)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6254222"/>
            <a:ext cx="11277570" cy="299009"/>
          </a:xfrm>
          <a:prstGeom prst="rect">
            <a:avLst/>
          </a:prstGeom>
          <a:ln/>
        </p:spPr>
      </p:sp>
      <p:sp>
        <p:nvSpPr>
          <p:cNvPr id="5" name="Shape 3"/>
          <p:cNvSpPr/>
          <p:nvPr/>
        </p:nvSpPr>
        <p:spPr>
          <a:xfrm>
            <a:off x="457200" y="6254222"/>
            <a:ext cx="1127757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368522"/>
            <a:ext cx="2088581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全出典は docs/practices.md を参照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106120" y="114300"/>
            <a:ext cx="9334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（組織名）限定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146170" y="312450"/>
            <a:ext cx="893460" cy="236190"/>
          </a:xfrm>
          <a:prstGeom prst="rect">
            <a:avLst>
              <a:gd name="adj" fmla="val 16144"/>
            </a:avLst>
          </a:prstGeom>
          <a:solidFill>
            <a:srgbClr val="FFEEE2"/>
          </a:solidFill>
          <a:ln/>
        </p:spPr>
        <p:txBody>
          <a:bodyPr wrap="square" lIns="38100" tIns="76200" rIns="76200" bIns="3810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C3E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機密性2情報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2430" y="6583680"/>
            <a:ext cx="1135868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（組織名）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631625" y="6583680"/>
            <a:ext cx="407914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17 / 28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3880"/>
            <a:ext cx="4930993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付録A: </a:t>
            </a:r>
            <a:pPr algn="l" indent="0" marL="0">
              <a:buNone/>
            </a:pPr>
            <a:r>
              <a:rPr lang="en-US" sz="27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状態と通知</a:t>
            </a:r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の部品活用例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83930"/>
            <a:ext cx="1549359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コールアウト（.callout）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1344808"/>
            <a:ext cx="5410230" cy="891449"/>
          </a:xfrm>
          <a:prstGeom prst="rect">
            <a:avLst>
              <a:gd name="adj" fmla="val 8544"/>
            </a:avLst>
          </a:prstGeom>
          <a:solidFill>
            <a:srgbClr val="E8F1FE"/>
          </a:solidFill>
          <a:ln/>
        </p:spPr>
        <p:txBody>
          <a:bodyPr wrap="square" lIns="152400" tIns="152400" rIns="152400" bIns="15240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情報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補足的な案内を短く。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344808"/>
            <a:ext cx="38130" cy="891449"/>
          </a:xfrm>
          <a:prstGeom prst="rect">
            <a:avLst/>
          </a:prstGeom>
          <a:solidFill>
            <a:srgbClr val="0031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312518"/>
            <a:ext cx="5410230" cy="891449"/>
          </a:xfrm>
          <a:prstGeom prst="rect">
            <a:avLst>
              <a:gd name="adj" fmla="val 8544"/>
            </a:avLst>
          </a:prstGeom>
          <a:solidFill>
            <a:srgbClr val="E6F5EC"/>
          </a:solidFill>
          <a:ln/>
        </p:spPr>
        <p:txBody>
          <a:bodyPr wrap="square" lIns="152400" tIns="152400" rIns="152400" bIns="15240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5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成功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目標を達成しました。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312518"/>
            <a:ext cx="38130" cy="891449"/>
          </a:xfrm>
          <a:prstGeom prst="rect">
            <a:avLst/>
          </a:prstGeom>
          <a:solidFill>
            <a:srgbClr val="259D6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280227"/>
            <a:ext cx="5410230" cy="891449"/>
          </a:xfrm>
          <a:prstGeom prst="rect">
            <a:avLst>
              <a:gd name="adj" fmla="val 8544"/>
            </a:avLst>
          </a:prstGeom>
          <a:solidFill>
            <a:srgbClr val="FFEEE2"/>
          </a:solidFill>
          <a:ln/>
        </p:spPr>
        <p:txBody>
          <a:bodyPr wrap="square" lIns="152400" tIns="152400" rIns="152400" bIns="15240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AC3E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注意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期限が近づいています。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3280227"/>
            <a:ext cx="38130" cy="891449"/>
          </a:xfrm>
          <a:prstGeom prst="rect">
            <a:avLst/>
          </a:prstGeom>
          <a:solidFill>
            <a:srgbClr val="FB5B0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247845"/>
            <a:ext cx="5410230" cy="891449"/>
          </a:xfrm>
          <a:prstGeom prst="rect">
            <a:avLst>
              <a:gd name="adj" fmla="val 8544"/>
            </a:avLst>
          </a:prstGeom>
          <a:solidFill>
            <a:srgbClr val="FDEEEE"/>
          </a:solidFill>
          <a:ln/>
        </p:spPr>
        <p:txBody>
          <a:bodyPr wrap="square" lIns="152400" tIns="152400" rIns="152400" bIns="15240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E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エラー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入力に誤りがあります。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4247845"/>
            <a:ext cx="38130" cy="891449"/>
          </a:xfrm>
          <a:prstGeom prst="rect">
            <a:avLst/>
          </a:prstGeom>
          <a:solidFill>
            <a:srgbClr val="EC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5244084"/>
            <a:ext cx="114428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区切り（.divider）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5657393"/>
            <a:ext cx="5410230" cy="9510"/>
          </a:xfrm>
          <a:prstGeom prst="rect">
            <a:avLst/>
          </a:prstGeom>
          <a:ln/>
        </p:spPr>
      </p:sp>
      <p:sp>
        <p:nvSpPr>
          <p:cNvPr id="14" name="Shape 12"/>
          <p:cNvSpPr/>
          <p:nvPr/>
        </p:nvSpPr>
        <p:spPr>
          <a:xfrm>
            <a:off x="457200" y="5657393"/>
            <a:ext cx="541023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" name="Text 13"/>
          <p:cNvSpPr/>
          <p:nvPr/>
        </p:nvSpPr>
        <p:spPr>
          <a:xfrm>
            <a:off x="6324630" y="1083930"/>
            <a:ext cx="1105967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バッジ（.badge）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24630" y="1344808"/>
            <a:ext cx="495330" cy="236190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lIns="38100" tIns="114300" rIns="114300" bIns="381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既定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934170" y="1344808"/>
            <a:ext cx="495330" cy="236190"/>
          </a:xfrm>
          <a:prstGeom prst="rect">
            <a:avLst/>
          </a:prstGeom>
          <a:solidFill>
            <a:srgbClr val="0031D8"/>
          </a:solidFill>
          <a:ln/>
        </p:spPr>
        <p:txBody>
          <a:bodyPr wrap="square" lIns="38100" tIns="114300" rIns="114300" bIns="381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重要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543800" y="1344808"/>
            <a:ext cx="495330" cy="236190"/>
          </a:xfrm>
          <a:prstGeom prst="rect">
            <a:avLst/>
          </a:prstGeom>
          <a:solidFill>
            <a:srgbClr val="E6F5EC"/>
          </a:solidFill>
          <a:ln/>
        </p:spPr>
        <p:txBody>
          <a:bodyPr wrap="square" lIns="38100" tIns="114300" rIns="114300" bIns="381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5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完了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153430" y="1344808"/>
            <a:ext cx="628650" cy="236190"/>
          </a:xfrm>
          <a:prstGeom prst="rect">
            <a:avLst/>
          </a:prstGeom>
          <a:solidFill>
            <a:srgbClr val="FFEEE2"/>
          </a:solidFill>
          <a:ln/>
        </p:spPr>
        <p:txBody>
          <a:bodyPr wrap="square" lIns="38100" tIns="114300" rIns="114300" bIns="381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C3E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進行中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896380" y="1344808"/>
            <a:ext cx="495330" cy="236190"/>
          </a:xfrm>
          <a:prstGeom prst="rect">
            <a:avLst/>
          </a:prstGeom>
          <a:solidFill>
            <a:srgbClr val="FDEEEE"/>
          </a:solidFill>
          <a:ln/>
        </p:spPr>
        <p:txBody>
          <a:bodyPr wrap="square" lIns="38100" tIns="114300" rIns="114300" bIns="381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E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停止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24630" y="1685696"/>
            <a:ext cx="776783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タグ（.tag）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24630" y="1946758"/>
            <a:ext cx="514350" cy="308519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wrap="square" lIns="38100" tIns="114300" rIns="114300" bIns="381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戦略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53280" y="1946758"/>
            <a:ext cx="514350" cy="308519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wrap="square" lIns="38100" tIns="114300" rIns="114300" bIns="381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581930" y="1946758"/>
            <a:ext cx="793516" cy="308519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wrap="square" lIns="38100" tIns="114300" rIns="114300" bIns="381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デザイン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489747" y="1946758"/>
            <a:ext cx="514350" cy="308519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wrap="square" lIns="38100" tIns="114300" rIns="114300" bIns="381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運用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24630" y="2359975"/>
            <a:ext cx="920526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ボタン（.btn）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24630" y="2620945"/>
            <a:ext cx="819120" cy="457200"/>
          </a:xfrm>
          <a:prstGeom prst="rect">
            <a:avLst>
              <a:gd name="adj" fmla="val 16660"/>
            </a:avLst>
          </a:prstGeom>
          <a:solidFill>
            <a:srgbClr val="0031D8"/>
          </a:solidFill>
          <a:ln/>
        </p:spPr>
        <p:txBody>
          <a:bodyPr wrap="square" lIns="76200" tIns="228600" rIns="228600" bIns="7620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主要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258050" y="2620945"/>
            <a:ext cx="647670" cy="457200"/>
          </a:xfrm>
          <a:prstGeom prst="rect">
            <a:avLst>
              <a:gd name="adj" fmla="val 16660"/>
            </a:avLst>
          </a:prstGeom>
          <a:solidFill>
            <a:srgbClr val="FFFFFF"/>
          </a:solidFill>
          <a:ln w="9525">
            <a:solidFill>
              <a:srgbClr val="0031D8"/>
            </a:solidFill>
          </a:ln>
        </p:spPr>
        <p:txBody>
          <a:bodyPr wrap="square" lIns="76200" tIns="228600" rIns="228600" bIns="7620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副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258221" y="2750332"/>
            <a:ext cx="3429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第三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57200" y="6254222"/>
            <a:ext cx="11277570" cy="299009"/>
          </a:xfrm>
          <a:prstGeom prst="rect">
            <a:avLst/>
          </a:prstGeom>
          <a:ln/>
        </p:spPr>
      </p:sp>
      <p:sp>
        <p:nvSpPr>
          <p:cNvPr id="31" name="Shape 29"/>
          <p:cNvSpPr/>
          <p:nvPr/>
        </p:nvSpPr>
        <p:spPr>
          <a:xfrm>
            <a:off x="457200" y="6254222"/>
            <a:ext cx="1127757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6368522"/>
            <a:ext cx="2613721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全コンポーネントの実例は付録A〜Hに集約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106120" y="114300"/>
            <a:ext cx="9334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（組織名）限定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146170" y="312450"/>
            <a:ext cx="893460" cy="236190"/>
          </a:xfrm>
          <a:prstGeom prst="rect">
            <a:avLst>
              <a:gd name="adj" fmla="val 16144"/>
            </a:avLst>
          </a:prstGeom>
          <a:solidFill>
            <a:srgbClr val="FFEEE2"/>
          </a:solidFill>
          <a:ln/>
        </p:spPr>
        <p:txBody>
          <a:bodyPr wrap="square" lIns="38100" tIns="76200" rIns="76200" bIns="3810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C3E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機密性2情報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52430" y="6583680"/>
            <a:ext cx="1135868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（組織名）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631625" y="6583680"/>
            <a:ext cx="407914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18 / 28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3880"/>
            <a:ext cx="6677589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付録B: </a:t>
            </a:r>
            <a:pPr algn="l" indent="0" marL="0">
              <a:buNone/>
            </a:pPr>
            <a:r>
              <a:rPr lang="en-US" sz="27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指標</a:t>
            </a:r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は表・バー・要約値で示します</a:t>
            </a:r>
            <a:endParaRPr lang="en-US" sz="2700" dirty="0"/>
          </a:p>
        </p:txBody>
      </p:sp>
      <p:grpSp>
        <p:nvGrpSpPr>
          <p:cNvPr id="25" name="DSGRP_29"/>
          <p:cNvGrpSpPr/>
          <p:nvPr/>
        </p:nvGrpSpPr>
        <p:grpSpPr>
          <a:xfrm>
            <a:off x="457200" y="1064910"/>
            <a:ext cx="837133" cy="620877"/>
            <a:chOff x="457200" y="1064910"/>
            <a:chExt cx="837133" cy="620877"/>
          </a:xfrm>
        </p:grpSpPr>
        <p:sp>
          <p:nvSpPr>
            <p:cNvPr id="3" name="DSGRP_29"/>
            <p:cNvSpPr/>
            <p:nvPr/>
          </p:nvSpPr>
          <p:spPr>
            <a:xfrm>
              <a:off x="457200" y="1064910"/>
              <a:ext cx="686349" cy="3905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2700" b="1" dirty="0">
                  <a:solidFill>
                    <a:srgbClr val="0031D8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75%</a:t>
              </a:r>
              <a:endParaRPr lang="en-US" sz="2700" dirty="0"/>
            </a:p>
          </p:txBody>
        </p:sp>
        <p:sp>
          <p:nvSpPr>
            <p:cNvPr id="4" name="DSGRP_29"/>
            <p:cNvSpPr/>
            <p:nvPr/>
          </p:nvSpPr>
          <p:spPr>
            <a:xfrm>
              <a:off x="457200" y="1533357"/>
              <a:ext cx="837133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作成時間 削減</a:t>
              </a:r>
              <a:endParaRPr lang="en-US" sz="1050" dirty="0"/>
            </a:p>
          </p:txBody>
        </p:sp>
      </p:grpSp>
      <p:grpSp>
        <p:nvGrpSpPr>
          <p:cNvPr id="26" name="DSGRP_30"/>
          <p:cNvGrpSpPr/>
          <p:nvPr/>
        </p:nvGrpSpPr>
        <p:grpSpPr>
          <a:xfrm>
            <a:off x="1751533" y="1064910"/>
            <a:ext cx="686349" cy="620877"/>
            <a:chOff x="1751533" y="1064910"/>
            <a:chExt cx="686349" cy="620877"/>
          </a:xfrm>
        </p:grpSpPr>
        <p:sp>
          <p:nvSpPr>
            <p:cNvPr id="5" name="DSGRP_30"/>
            <p:cNvSpPr/>
            <p:nvPr/>
          </p:nvSpPr>
          <p:spPr>
            <a:xfrm>
              <a:off x="1751533" y="1064910"/>
              <a:ext cx="686349" cy="3905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2700" b="1" dirty="0">
                  <a:solidFill>
                    <a:srgbClr val="0031D8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98%</a:t>
              </a:r>
              <a:endParaRPr lang="en-US" sz="2700" dirty="0"/>
            </a:p>
          </p:txBody>
        </p:sp>
        <p:sp>
          <p:nvSpPr>
            <p:cNvPr id="6" name="DSGRP_30"/>
            <p:cNvSpPr/>
            <p:nvPr/>
          </p:nvSpPr>
          <p:spPr>
            <a:xfrm>
              <a:off x="1751533" y="1533357"/>
              <a:ext cx="400050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準拠率</a:t>
              </a:r>
              <a:endParaRPr lang="en-US" sz="1050" dirty="0"/>
            </a:p>
          </p:txBody>
        </p:sp>
      </p:grpSp>
      <p:grpSp>
        <p:nvGrpSpPr>
          <p:cNvPr id="27" name="DSGRP_31"/>
          <p:cNvGrpSpPr/>
          <p:nvPr/>
        </p:nvGrpSpPr>
        <p:grpSpPr>
          <a:xfrm>
            <a:off x="2895082" y="1064910"/>
            <a:ext cx="585490" cy="620877"/>
            <a:chOff x="2895082" y="1064910"/>
            <a:chExt cx="585490" cy="620877"/>
          </a:xfrm>
        </p:grpSpPr>
        <p:sp>
          <p:nvSpPr>
            <p:cNvPr id="7" name="DSGRP_31"/>
            <p:cNvSpPr/>
            <p:nvPr/>
          </p:nvSpPr>
          <p:spPr>
            <a:xfrm>
              <a:off x="2895082" y="1064910"/>
              <a:ext cx="476768" cy="3905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2700" b="1" dirty="0">
                  <a:solidFill>
                    <a:srgbClr val="0031D8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4.5</a:t>
              </a:r>
              <a:endParaRPr lang="en-US" sz="2700" dirty="0"/>
            </a:p>
          </p:txBody>
        </p:sp>
        <p:sp>
          <p:nvSpPr>
            <p:cNvPr id="8" name="DSGRP_31"/>
            <p:cNvSpPr/>
            <p:nvPr/>
          </p:nvSpPr>
          <p:spPr>
            <a:xfrm>
              <a:off x="2895082" y="1533357"/>
              <a:ext cx="585490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満足度 / 5</a:t>
              </a:r>
              <a:endParaRPr lang="en-US" sz="1050" dirty="0"/>
            </a:p>
          </p:txBody>
        </p:sp>
      </p:grp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46758"/>
          <a:ext cx="11277570" cy="914400"/>
        </p:xfrm>
        <a:graphic>
          <a:graphicData uri="http://schemas.openxmlformats.org/drawingml/2006/table">
            <a:tbl>
              <a:tblPr/>
              <a:tblGrid>
                <a:gridCol w="2819393"/>
                <a:gridCol w="2819393"/>
                <a:gridCol w="2819393"/>
                <a:gridCol w="281939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</a:rPr>
                        <a:t>指標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</a:rPr>
                        <a:t>前月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</a:rPr>
                        <a:t>当月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</a:rPr>
                        <a:t>目標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</a:rPr>
                        <a:t>作成時間（h）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</a:rPr>
                        <a:t>4.0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</a:rPr>
                        <a:t>1.0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</a:rPr>
                        <a:t>1.0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</a:rPr>
                        <a:t>レビュー往復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</a:rPr>
                        <a:t>2.0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</a:rPr>
                        <a:t>1.4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</a:rPr>
                        <a:t>1.5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</a:rPr>
                        <a:t>準拠率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</a:rPr>
                        <a:t>92%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</a:rPr>
                        <a:t>98%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</a:rPr>
                        <a:t>95%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3929634"/>
            <a:ext cx="11277570" cy="1143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3929634"/>
            <a:ext cx="11051987" cy="114300"/>
          </a:xfrm>
          <a:prstGeom prst="rect">
            <a:avLst/>
          </a:prstGeom>
          <a:solidFill>
            <a:srgbClr val="0031D8"/>
          </a:solidFill>
          <a:ln/>
        </p:spPr>
      </p:sp>
      <p:grpSp>
        <p:nvGrpSpPr>
          <p:cNvPr id="28" name="DSGRP_32"/>
          <p:cNvGrpSpPr/>
          <p:nvPr/>
        </p:nvGrpSpPr>
        <p:grpSpPr>
          <a:xfrm>
            <a:off x="457200" y="4301155"/>
            <a:ext cx="457200" cy="152430"/>
            <a:chOff x="457200" y="4301155"/>
            <a:chExt cx="457200" cy="152430"/>
          </a:xfrm>
        </p:grpSpPr>
        <p:sp>
          <p:nvSpPr>
            <p:cNvPr id="12" name="DSGRP_32"/>
            <p:cNvSpPr/>
            <p:nvPr/>
          </p:nvSpPr>
          <p:spPr>
            <a:xfrm>
              <a:off x="647670" y="4301155"/>
              <a:ext cx="266730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当月</a:t>
              </a:r>
              <a:endParaRPr lang="en-US" sz="1050" dirty="0"/>
            </a:p>
          </p:txBody>
        </p:sp>
        <p:sp>
          <p:nvSpPr>
            <p:cNvPr id="13" name="DSGRP_32"/>
            <p:cNvSpPr/>
            <p:nvPr/>
          </p:nvSpPr>
          <p:spPr>
            <a:xfrm>
              <a:off x="457200" y="4322003"/>
              <a:ext cx="114300" cy="114300"/>
            </a:xfrm>
            <a:prstGeom prst="roundRect">
              <a:avLst>
                <a:gd name="adj" fmla="val 33360"/>
              </a:avLst>
            </a:prstGeom>
            <a:solidFill>
              <a:srgbClr val="0031D8"/>
            </a:solidFill>
            <a:ln/>
          </p:spPr>
        </p:sp>
      </p:grpSp>
      <p:grpSp>
        <p:nvGrpSpPr>
          <p:cNvPr id="29" name="DSGRP_33"/>
          <p:cNvGrpSpPr/>
          <p:nvPr/>
        </p:nvGrpSpPr>
        <p:grpSpPr>
          <a:xfrm>
            <a:off x="1066830" y="4301155"/>
            <a:ext cx="457200" cy="152430"/>
            <a:chOff x="1066830" y="4301155"/>
            <a:chExt cx="457200" cy="152430"/>
          </a:xfrm>
        </p:grpSpPr>
        <p:sp>
          <p:nvSpPr>
            <p:cNvPr id="14" name="DSGRP_33"/>
            <p:cNvSpPr/>
            <p:nvPr/>
          </p:nvSpPr>
          <p:spPr>
            <a:xfrm>
              <a:off x="1257300" y="4301155"/>
              <a:ext cx="266730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前月</a:t>
              </a:r>
              <a:endParaRPr lang="en-US" sz="1050" dirty="0"/>
            </a:p>
          </p:txBody>
        </p:sp>
        <p:sp>
          <p:nvSpPr>
            <p:cNvPr id="15" name="DSGRP_33"/>
            <p:cNvSpPr/>
            <p:nvPr/>
          </p:nvSpPr>
          <p:spPr>
            <a:xfrm>
              <a:off x="1066830" y="4322003"/>
              <a:ext cx="114300" cy="114300"/>
            </a:xfrm>
            <a:prstGeom prst="roundRect">
              <a:avLst>
                <a:gd name="adj" fmla="val 33360"/>
              </a:avLst>
            </a:prstGeom>
            <a:solidFill>
              <a:srgbClr val="999999"/>
            </a:solidFill>
            <a:ln/>
          </p:spPr>
        </p:sp>
      </p:grpSp>
      <p:grpSp>
        <p:nvGrpSpPr>
          <p:cNvPr id="30" name="DSGRP_34"/>
          <p:cNvGrpSpPr/>
          <p:nvPr/>
        </p:nvGrpSpPr>
        <p:grpSpPr>
          <a:xfrm>
            <a:off x="1676370" y="4301155"/>
            <a:ext cx="457290" cy="152430"/>
            <a:chOff x="1676370" y="4301155"/>
            <a:chExt cx="457290" cy="152430"/>
          </a:xfrm>
        </p:grpSpPr>
        <p:sp>
          <p:nvSpPr>
            <p:cNvPr id="16" name="DSGRP_34"/>
            <p:cNvSpPr/>
            <p:nvPr/>
          </p:nvSpPr>
          <p:spPr>
            <a:xfrm>
              <a:off x="1866930" y="4301155"/>
              <a:ext cx="266730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目標</a:t>
              </a:r>
              <a:endParaRPr lang="en-US" sz="1050" dirty="0"/>
            </a:p>
          </p:txBody>
        </p:sp>
        <p:sp>
          <p:nvSpPr>
            <p:cNvPr id="17" name="DSGRP_34"/>
            <p:cNvSpPr/>
            <p:nvPr/>
          </p:nvSpPr>
          <p:spPr>
            <a:xfrm>
              <a:off x="1676370" y="4322003"/>
              <a:ext cx="114300" cy="114300"/>
            </a:xfrm>
            <a:prstGeom prst="roundRect">
              <a:avLst>
                <a:gd name="adj" fmla="val 33360"/>
              </a:avLst>
            </a:prstGeom>
            <a:solidFill>
              <a:srgbClr val="E6E6E6"/>
            </a:solidFill>
            <a:ln/>
          </p:spPr>
        </p:sp>
      </p:grpSp>
      <p:sp>
        <p:nvSpPr>
          <p:cNvPr id="18" name="Shape 15"/>
          <p:cNvSpPr/>
          <p:nvPr/>
        </p:nvSpPr>
        <p:spPr>
          <a:xfrm>
            <a:off x="457200" y="6254222"/>
            <a:ext cx="11277570" cy="299009"/>
          </a:xfrm>
          <a:prstGeom prst="rect">
            <a:avLst/>
          </a:prstGeom>
          <a:ln/>
        </p:spPr>
      </p:sp>
      <p:sp>
        <p:nvSpPr>
          <p:cNvPr id="19" name="Shape 16"/>
          <p:cNvSpPr/>
          <p:nvPr/>
        </p:nvSpPr>
        <p:spPr>
          <a:xfrm>
            <a:off x="457200" y="6254222"/>
            <a:ext cx="1127757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6368522"/>
            <a:ext cx="1222096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値はプレースホルダ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1106120" y="114300"/>
            <a:ext cx="9334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（組織名）限定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1146170" y="312450"/>
            <a:ext cx="893460" cy="236190"/>
          </a:xfrm>
          <a:prstGeom prst="rect">
            <a:avLst>
              <a:gd name="adj" fmla="val 16144"/>
            </a:avLst>
          </a:prstGeom>
          <a:solidFill>
            <a:srgbClr val="FFEEE2"/>
          </a:solidFill>
          <a:ln/>
        </p:spPr>
        <p:txBody>
          <a:bodyPr wrap="square" lIns="38100" tIns="76200" rIns="76200" bIns="3810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C3E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機密性2情報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52430" y="6583680"/>
            <a:ext cx="1135868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（組織名）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1631625" y="6583680"/>
            <a:ext cx="407914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19 / 28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3880"/>
            <a:ext cx="6517477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付録C: </a:t>
            </a:r>
            <a:pPr algn="l" indent="0" marL="0">
              <a:buNone/>
            </a:pPr>
            <a:r>
              <a:rPr lang="en-US" sz="27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要件・属性・声</a:t>
            </a:r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を1枚に凝縮します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83930"/>
            <a:ext cx="183008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チェックリスト（.checklist）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61970" y="1382939"/>
            <a:ext cx="2523835" cy="1043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buSzPct val="100000"/>
              <a:buChar char="✓"/>
            </a:pPr>
            <a:r>
              <a:rPr lang="en-US" sz="13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トークン準拠（ハードコード0）</a:t>
            </a:r>
            <a:endParaRPr lang="en-US" sz="1350" dirty="0"/>
          </a:p>
          <a:p>
            <a:pPr algn="l" marL="190500" indent="-190500">
              <a:buSzPct val="100000"/>
              <a:buChar char="✓"/>
            </a:pPr>
            <a:r>
              <a:rPr lang="en-US" sz="13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WCAG 2.2 AA</a:t>
            </a:r>
            <a:endParaRPr lang="en-US" sz="1350" dirty="0"/>
          </a:p>
          <a:p>
            <a:pPr algn="l" marL="190500" indent="-190500">
              <a:buSzPct val="100000"/>
              <a:buChar char="✓"/>
            </a:pPr>
            <a:r>
              <a:rPr lang="en-US" sz="13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スライドへ差し込み可能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577236"/>
            <a:ext cx="1264707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キーバリュー（.kv）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3038185"/>
            <a:ext cx="2667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333470" y="3047695"/>
            <a:ext cx="1124163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全社（6部署）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3388675"/>
            <a:ext cx="2667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期間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333470" y="3398276"/>
            <a:ext cx="657819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 Q3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3739164"/>
            <a:ext cx="2667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担当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33470" y="3748674"/>
            <a:ext cx="1220267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プロダクト戦略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324630" y="1083930"/>
            <a:ext cx="1760769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引用ブロック（.pull-quote）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24630" y="1344808"/>
            <a:ext cx="5410230" cy="899038"/>
          </a:xfrm>
          <a:prstGeom prst="rect">
            <a:avLst>
              <a:gd name="adj" fmla="val 8472"/>
            </a:avLst>
          </a:prstGeom>
          <a:solidFill>
            <a:srgbClr val="F2F2F2"/>
          </a:solidFill>
          <a:ln/>
        </p:spPr>
        <p:txBody>
          <a:bodyPr wrap="square" lIns="152400" tIns="228600" rIns="228600" bIns="1524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体裁調整が不要になり、内容の議論に集中できた。</a:t>
            </a:r>
            <a:endParaRPr lang="en-US" sz="15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［氏名・肩書き］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24630" y="1344808"/>
            <a:ext cx="38130" cy="899038"/>
          </a:xfrm>
          <a:prstGeom prst="rect">
            <a:avLst/>
          </a:prstGeom>
          <a:solidFill>
            <a:srgbClr val="0031D8"/>
          </a:solidFill>
          <a:ln/>
        </p:spPr>
      </p:sp>
      <p:sp>
        <p:nvSpPr>
          <p:cNvPr id="15" name="Text 13"/>
          <p:cNvSpPr/>
          <p:nvPr/>
        </p:nvSpPr>
        <p:spPr>
          <a:xfrm>
            <a:off x="6324630" y="2348636"/>
            <a:ext cx="1101212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統計 + プログレス</a:t>
            </a:r>
            <a:endParaRPr lang="en-US" sz="1050" dirty="0"/>
          </a:p>
        </p:txBody>
      </p:sp>
      <p:grpSp>
        <p:nvGrpSpPr>
          <p:cNvPr id="27" name="DSGRP_35"/>
          <p:cNvGrpSpPr/>
          <p:nvPr/>
        </p:nvGrpSpPr>
        <p:grpSpPr>
          <a:xfrm>
            <a:off x="6324630" y="2619116"/>
            <a:ext cx="936620" cy="620968"/>
            <a:chOff x="6324630" y="2619116"/>
            <a:chExt cx="936620" cy="620968"/>
          </a:xfrm>
        </p:grpSpPr>
        <p:sp>
          <p:nvSpPr>
            <p:cNvPr id="16" name="DSGRP_35"/>
            <p:cNvSpPr/>
            <p:nvPr/>
          </p:nvSpPr>
          <p:spPr>
            <a:xfrm>
              <a:off x="6324630" y="2619116"/>
              <a:ext cx="884682" cy="3905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2700" b="1" dirty="0">
                  <a:solidFill>
                    <a:srgbClr val="0031D8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3か月</a:t>
              </a:r>
              <a:endParaRPr lang="en-US" sz="2700" dirty="0"/>
            </a:p>
          </p:txBody>
        </p:sp>
        <p:sp>
          <p:nvSpPr>
            <p:cNvPr id="17" name="DSGRP_35"/>
            <p:cNvSpPr/>
            <p:nvPr/>
          </p:nvSpPr>
          <p:spPr>
            <a:xfrm>
              <a:off x="6324630" y="3087654"/>
              <a:ext cx="936620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投資回収の目安</a:t>
              </a:r>
              <a:endParaRPr lang="en-US" sz="1050" dirty="0"/>
            </a:p>
          </p:txBody>
        </p:sp>
      </p:grpSp>
      <p:sp>
        <p:nvSpPr>
          <p:cNvPr id="18" name="Shape 16"/>
          <p:cNvSpPr/>
          <p:nvPr/>
        </p:nvSpPr>
        <p:spPr>
          <a:xfrm>
            <a:off x="6324630" y="3348533"/>
            <a:ext cx="5410230" cy="1143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19" name="Shape 17"/>
          <p:cNvSpPr/>
          <p:nvPr/>
        </p:nvSpPr>
        <p:spPr>
          <a:xfrm>
            <a:off x="6324630" y="3348533"/>
            <a:ext cx="3246120" cy="114300"/>
          </a:xfrm>
          <a:prstGeom prst="rect">
            <a:avLst/>
          </a:prstGeom>
          <a:solidFill>
            <a:srgbClr val="0031D8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6254222"/>
            <a:ext cx="11277570" cy="299009"/>
          </a:xfrm>
          <a:prstGeom prst="rect">
            <a:avLst/>
          </a:prstGeom>
          <a:ln/>
        </p:spPr>
      </p:sp>
      <p:sp>
        <p:nvSpPr>
          <p:cNvPr id="21" name="Shape 19"/>
          <p:cNvSpPr/>
          <p:nvPr/>
        </p:nvSpPr>
        <p:spPr>
          <a:xfrm>
            <a:off x="457200" y="6254222"/>
            <a:ext cx="1127757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368522"/>
            <a:ext cx="1482425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部品を組み合わせた実例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106120" y="114300"/>
            <a:ext cx="9334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（組織名）限定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146170" y="312450"/>
            <a:ext cx="893460" cy="236190"/>
          </a:xfrm>
          <a:prstGeom prst="rect">
            <a:avLst>
              <a:gd name="adj" fmla="val 16144"/>
            </a:avLst>
          </a:prstGeom>
          <a:solidFill>
            <a:srgbClr val="FFEEE2"/>
          </a:solidFill>
          <a:ln/>
        </p:spPr>
        <p:txBody>
          <a:bodyPr wrap="square" lIns="38100" tIns="76200" rIns="76200" bIns="3810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C3E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機密性2情報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52430" y="6583680"/>
            <a:ext cx="1135868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（組織名）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631625" y="6583680"/>
            <a:ext cx="407914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 / 28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3880"/>
            <a:ext cx="7068769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付録D: </a:t>
            </a:r>
            <a:pPr algn="l" indent="0" marL="0">
              <a:buNone/>
            </a:pPr>
            <a:r>
              <a:rPr lang="en-US" sz="27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ダッシュボード</a:t>
            </a:r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（ガイドブック準拠）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83930"/>
            <a:ext cx="1707916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KPIカード（グリッド整列）</a:t>
            </a:r>
            <a:endParaRPr lang="en-US" sz="1050" dirty="0"/>
          </a:p>
        </p:txBody>
      </p:sp>
      <p:grpSp>
        <p:nvGrpSpPr>
          <p:cNvPr id="36" name="DSGRP_36"/>
          <p:cNvGrpSpPr/>
          <p:nvPr/>
        </p:nvGrpSpPr>
        <p:grpSpPr>
          <a:xfrm>
            <a:off x="457200" y="1344808"/>
            <a:ext cx="2647920" cy="1403787"/>
            <a:chOff x="457200" y="1344808"/>
            <a:chExt cx="2647920" cy="1403787"/>
          </a:xfrm>
        </p:grpSpPr>
        <p:sp>
          <p:nvSpPr>
            <p:cNvPr id="4" name="DSGRP_36"/>
            <p:cNvSpPr/>
            <p:nvPr/>
          </p:nvSpPr>
          <p:spPr>
            <a:xfrm>
              <a:off x="457200" y="1344808"/>
              <a:ext cx="2647920" cy="1403787"/>
            </a:xfrm>
            <a:prstGeom prst="roundRect">
              <a:avLst>
                <a:gd name="adj" fmla="val 5426"/>
              </a:avLst>
            </a:prstGeom>
            <a:solidFill>
              <a:srgbClr val="F2F2F2"/>
            </a:solidFill>
            <a:ln w="9525">
              <a:solidFill>
                <a:srgbClr val="CCCCCC"/>
              </a:solidFill>
              <a:prstDash val="solid"/>
            </a:ln>
          </p:spPr>
        </p:sp>
        <p:sp>
          <p:nvSpPr>
            <p:cNvPr id="5" name="DSGRP_36"/>
            <p:cNvSpPr/>
            <p:nvPr/>
          </p:nvSpPr>
          <p:spPr>
            <a:xfrm>
              <a:off x="619140" y="1535369"/>
              <a:ext cx="533370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導入部署</a:t>
              </a:r>
              <a:endParaRPr lang="en-US" sz="1050" dirty="0"/>
            </a:p>
          </p:txBody>
        </p:sp>
        <p:sp>
          <p:nvSpPr>
            <p:cNvPr id="6" name="DSGRP_36"/>
            <p:cNvSpPr/>
            <p:nvPr/>
          </p:nvSpPr>
          <p:spPr>
            <a:xfrm>
              <a:off x="619140" y="1843888"/>
              <a:ext cx="381488" cy="3905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2700" b="1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12</a:t>
              </a:r>
              <a:endParaRPr lang="en-US" sz="2700" dirty="0"/>
            </a:p>
          </p:txBody>
        </p:sp>
        <p:sp>
          <p:nvSpPr>
            <p:cNvPr id="7" name="DSGRP_36"/>
            <p:cNvSpPr/>
            <p:nvPr/>
          </p:nvSpPr>
          <p:spPr>
            <a:xfrm>
              <a:off x="619140" y="2392436"/>
              <a:ext cx="455828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前月 +3</a:t>
              </a:r>
              <a:endParaRPr lang="en-US" sz="1050" dirty="0"/>
            </a:p>
          </p:txBody>
        </p:sp>
      </p:grpSp>
      <p:grpSp>
        <p:nvGrpSpPr>
          <p:cNvPr id="37" name="DSGRP_37"/>
          <p:cNvGrpSpPr/>
          <p:nvPr/>
        </p:nvGrpSpPr>
        <p:grpSpPr>
          <a:xfrm>
            <a:off x="3219420" y="1344808"/>
            <a:ext cx="2647920" cy="1403787"/>
            <a:chOff x="3219420" y="1344808"/>
            <a:chExt cx="2647920" cy="1403787"/>
          </a:xfrm>
        </p:grpSpPr>
        <p:sp>
          <p:nvSpPr>
            <p:cNvPr id="8" name="DSGRP_37"/>
            <p:cNvSpPr/>
            <p:nvPr/>
          </p:nvSpPr>
          <p:spPr>
            <a:xfrm>
              <a:off x="3219420" y="1344808"/>
              <a:ext cx="2647920" cy="1403787"/>
            </a:xfrm>
            <a:prstGeom prst="roundRect">
              <a:avLst>
                <a:gd name="adj" fmla="val 5426"/>
              </a:avLst>
            </a:prstGeom>
            <a:solidFill>
              <a:srgbClr val="F2F2F2"/>
            </a:solidFill>
            <a:ln/>
          </p:spPr>
        </p:sp>
        <p:sp>
          <p:nvSpPr>
            <p:cNvPr id="9" name="DSGRP_37"/>
            <p:cNvSpPr/>
            <p:nvPr/>
          </p:nvSpPr>
          <p:spPr>
            <a:xfrm>
              <a:off x="3219420" y="1344808"/>
              <a:ext cx="2647920" cy="38130"/>
            </a:xfrm>
            <a:prstGeom prst="rect">
              <a:avLst/>
            </a:prstGeom>
            <a:solidFill>
              <a:srgbClr val="0031D8"/>
            </a:solidFill>
            <a:ln/>
          </p:spPr>
        </p:sp>
        <p:sp>
          <p:nvSpPr>
            <p:cNvPr id="10" name="DSGRP_37"/>
            <p:cNvSpPr/>
            <p:nvPr/>
          </p:nvSpPr>
          <p:spPr>
            <a:xfrm>
              <a:off x="3381360" y="1563898"/>
              <a:ext cx="1200150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作成時間（中央値）</a:t>
              </a:r>
              <a:endParaRPr lang="en-US" sz="1050" dirty="0"/>
            </a:p>
          </p:txBody>
        </p:sp>
        <p:sp>
          <p:nvSpPr>
            <p:cNvPr id="11" name="DSGRP_37"/>
            <p:cNvSpPr/>
            <p:nvPr/>
          </p:nvSpPr>
          <p:spPr>
            <a:xfrm>
              <a:off x="3381360" y="1862907"/>
              <a:ext cx="686257" cy="3905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2700" b="1" dirty="0">
                  <a:solidFill>
                    <a:srgbClr val="0031D8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1.0h</a:t>
              </a:r>
              <a:endParaRPr lang="en-US" sz="2700" dirty="0"/>
            </a:p>
          </p:txBody>
        </p:sp>
        <p:sp>
          <p:nvSpPr>
            <p:cNvPr id="12" name="DSGRP_37"/>
            <p:cNvSpPr/>
            <p:nvPr/>
          </p:nvSpPr>
          <p:spPr>
            <a:xfrm>
              <a:off x="3381360" y="2401946"/>
              <a:ext cx="533370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目標達成</a:t>
              </a:r>
              <a:endParaRPr lang="en-US" sz="1050" dirty="0"/>
            </a:p>
          </p:txBody>
        </p:sp>
      </p:grpSp>
      <p:grpSp>
        <p:nvGrpSpPr>
          <p:cNvPr id="38" name="DSGRP_38"/>
          <p:cNvGrpSpPr/>
          <p:nvPr/>
        </p:nvGrpSpPr>
        <p:grpSpPr>
          <a:xfrm>
            <a:off x="457200" y="2862804"/>
            <a:ext cx="2647920" cy="1375258"/>
            <a:chOff x="457200" y="2862804"/>
            <a:chExt cx="2647920" cy="1375258"/>
          </a:xfrm>
        </p:grpSpPr>
        <p:sp>
          <p:nvSpPr>
            <p:cNvPr id="13" name="DSGRP_38"/>
            <p:cNvSpPr/>
            <p:nvPr/>
          </p:nvSpPr>
          <p:spPr>
            <a:xfrm>
              <a:off x="457200" y="2862804"/>
              <a:ext cx="2647920" cy="1375258"/>
            </a:xfrm>
            <a:prstGeom prst="roundRect">
              <a:avLst>
                <a:gd name="adj" fmla="val 5539"/>
              </a:avLst>
            </a:prstGeom>
            <a:solidFill>
              <a:srgbClr val="F2F2F2"/>
            </a:solidFill>
            <a:ln w="9525">
              <a:solidFill>
                <a:srgbClr val="CCCCCC"/>
              </a:solidFill>
              <a:prstDash val="solid"/>
            </a:ln>
          </p:spPr>
        </p:sp>
        <p:sp>
          <p:nvSpPr>
            <p:cNvPr id="14" name="DSGRP_38"/>
            <p:cNvSpPr/>
            <p:nvPr/>
          </p:nvSpPr>
          <p:spPr>
            <a:xfrm>
              <a:off x="619140" y="3053364"/>
              <a:ext cx="400050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準拠率</a:t>
              </a:r>
              <a:endParaRPr lang="en-US" sz="1050" dirty="0"/>
            </a:p>
          </p:txBody>
        </p:sp>
        <p:sp>
          <p:nvSpPr>
            <p:cNvPr id="15" name="DSGRP_38"/>
            <p:cNvSpPr/>
            <p:nvPr/>
          </p:nvSpPr>
          <p:spPr>
            <a:xfrm>
              <a:off x="619140" y="3352282"/>
              <a:ext cx="686349" cy="3905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2700" b="1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98%</a:t>
              </a:r>
              <a:endParaRPr lang="en-US" sz="2700" dirty="0"/>
            </a:p>
          </p:txBody>
        </p:sp>
        <p:sp>
          <p:nvSpPr>
            <p:cNvPr id="16" name="DSGRP_38"/>
            <p:cNvSpPr/>
            <p:nvPr/>
          </p:nvSpPr>
          <p:spPr>
            <a:xfrm>
              <a:off x="619140" y="3891412"/>
              <a:ext cx="567019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前月 +6pt</a:t>
              </a:r>
              <a:endParaRPr lang="en-US" sz="1050" dirty="0"/>
            </a:p>
          </p:txBody>
        </p:sp>
      </p:grpSp>
      <p:grpSp>
        <p:nvGrpSpPr>
          <p:cNvPr id="39" name="DSGRP_39"/>
          <p:cNvGrpSpPr/>
          <p:nvPr/>
        </p:nvGrpSpPr>
        <p:grpSpPr>
          <a:xfrm>
            <a:off x="3219420" y="2862804"/>
            <a:ext cx="2647920" cy="1375258"/>
            <a:chOff x="3219420" y="2862804"/>
            <a:chExt cx="2647920" cy="1375258"/>
          </a:xfrm>
        </p:grpSpPr>
        <p:sp>
          <p:nvSpPr>
            <p:cNvPr id="17" name="DSGRP_39"/>
            <p:cNvSpPr/>
            <p:nvPr/>
          </p:nvSpPr>
          <p:spPr>
            <a:xfrm>
              <a:off x="3219420" y="2862804"/>
              <a:ext cx="2647920" cy="1375258"/>
            </a:xfrm>
            <a:prstGeom prst="roundRect">
              <a:avLst>
                <a:gd name="adj" fmla="val 5539"/>
              </a:avLst>
            </a:prstGeom>
            <a:solidFill>
              <a:srgbClr val="F2F2F2"/>
            </a:solidFill>
            <a:ln w="9525">
              <a:solidFill>
                <a:srgbClr val="CCCCCC"/>
              </a:solidFill>
              <a:prstDash val="solid"/>
            </a:ln>
          </p:spPr>
        </p:sp>
        <p:sp>
          <p:nvSpPr>
            <p:cNvPr id="18" name="DSGRP_39"/>
            <p:cNvSpPr/>
            <p:nvPr/>
          </p:nvSpPr>
          <p:spPr>
            <a:xfrm>
              <a:off x="3381360" y="3053364"/>
              <a:ext cx="400050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満足度</a:t>
              </a:r>
              <a:endParaRPr lang="en-US" sz="1050" dirty="0"/>
            </a:p>
          </p:txBody>
        </p:sp>
        <p:sp>
          <p:nvSpPr>
            <p:cNvPr id="19" name="DSGRP_39"/>
            <p:cNvSpPr/>
            <p:nvPr/>
          </p:nvSpPr>
          <p:spPr>
            <a:xfrm>
              <a:off x="3381360" y="3352282"/>
              <a:ext cx="476768" cy="3905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2700" b="1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4.5</a:t>
              </a:r>
              <a:endParaRPr lang="en-US" sz="2700" dirty="0"/>
            </a:p>
          </p:txBody>
        </p:sp>
        <p:sp>
          <p:nvSpPr>
            <p:cNvPr id="20" name="DSGRP_39"/>
            <p:cNvSpPr/>
            <p:nvPr/>
          </p:nvSpPr>
          <p:spPr>
            <a:xfrm>
              <a:off x="3381360" y="3891412"/>
              <a:ext cx="111374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/5</a:t>
              </a:r>
              <a:endParaRPr lang="en-US" sz="1050" dirty="0"/>
            </a:p>
          </p:txBody>
        </p:sp>
      </p:grpSp>
      <p:sp>
        <p:nvSpPr>
          <p:cNvPr id="21" name="Text 19"/>
          <p:cNvSpPr/>
          <p:nvPr/>
        </p:nvSpPr>
        <p:spPr>
          <a:xfrm>
            <a:off x="6324630" y="1083930"/>
            <a:ext cx="3283245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多系列チャート（カテゴリ配色 = DS 7パレット由来）</a:t>
            </a:r>
            <a:endParaRPr lang="en-US" sz="10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6324630" y="1382939"/>
          <a:ext cx="541023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pSp>
        <p:nvGrpSpPr>
          <p:cNvPr id="40" name="DSGRP_40"/>
          <p:cNvGrpSpPr/>
          <p:nvPr/>
        </p:nvGrpSpPr>
        <p:grpSpPr>
          <a:xfrm>
            <a:off x="6324630" y="3811768"/>
            <a:ext cx="457200" cy="152430"/>
            <a:chOff x="6324630" y="3811768"/>
            <a:chExt cx="457200" cy="152430"/>
          </a:xfrm>
        </p:grpSpPr>
        <p:sp>
          <p:nvSpPr>
            <p:cNvPr id="23" name="DSGRP_40"/>
            <p:cNvSpPr/>
            <p:nvPr/>
          </p:nvSpPr>
          <p:spPr>
            <a:xfrm>
              <a:off x="6515100" y="3811768"/>
              <a:ext cx="266730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企画</a:t>
              </a:r>
              <a:endParaRPr lang="en-US" sz="1050" dirty="0"/>
            </a:p>
          </p:txBody>
        </p:sp>
        <p:sp>
          <p:nvSpPr>
            <p:cNvPr id="24" name="DSGRP_40"/>
            <p:cNvSpPr/>
            <p:nvPr/>
          </p:nvSpPr>
          <p:spPr>
            <a:xfrm>
              <a:off x="6324630" y="3832708"/>
              <a:ext cx="114300" cy="114300"/>
            </a:xfrm>
            <a:prstGeom prst="roundRect">
              <a:avLst>
                <a:gd name="adj" fmla="val 33360"/>
              </a:avLst>
            </a:prstGeom>
            <a:solidFill>
              <a:srgbClr val="0031D8"/>
            </a:solidFill>
            <a:ln/>
          </p:spPr>
        </p:sp>
      </p:grpSp>
      <p:grpSp>
        <p:nvGrpSpPr>
          <p:cNvPr id="41" name="DSGRP_41"/>
          <p:cNvGrpSpPr/>
          <p:nvPr/>
        </p:nvGrpSpPr>
        <p:grpSpPr>
          <a:xfrm>
            <a:off x="6934170" y="3811768"/>
            <a:ext cx="457290" cy="152430"/>
            <a:chOff x="6934170" y="3811768"/>
            <a:chExt cx="457290" cy="152430"/>
          </a:xfrm>
        </p:grpSpPr>
        <p:sp>
          <p:nvSpPr>
            <p:cNvPr id="25" name="DSGRP_41"/>
            <p:cNvSpPr/>
            <p:nvPr/>
          </p:nvSpPr>
          <p:spPr>
            <a:xfrm>
              <a:off x="7124730" y="3811768"/>
              <a:ext cx="266730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開発</a:t>
              </a:r>
              <a:endParaRPr lang="en-US" sz="1050" dirty="0"/>
            </a:p>
          </p:txBody>
        </p:sp>
        <p:sp>
          <p:nvSpPr>
            <p:cNvPr id="26" name="DSGRP_41"/>
            <p:cNvSpPr/>
            <p:nvPr/>
          </p:nvSpPr>
          <p:spPr>
            <a:xfrm>
              <a:off x="6934170" y="3832708"/>
              <a:ext cx="114300" cy="114300"/>
            </a:xfrm>
            <a:prstGeom prst="roundRect">
              <a:avLst>
                <a:gd name="adj" fmla="val 33360"/>
              </a:avLst>
            </a:prstGeom>
            <a:solidFill>
              <a:srgbClr val="1D8B56"/>
            </a:solidFill>
            <a:ln/>
          </p:spPr>
        </p:sp>
      </p:grpSp>
      <p:grpSp>
        <p:nvGrpSpPr>
          <p:cNvPr id="42" name="DSGRP_42"/>
          <p:cNvGrpSpPr/>
          <p:nvPr/>
        </p:nvGrpSpPr>
        <p:grpSpPr>
          <a:xfrm>
            <a:off x="7543800" y="3811768"/>
            <a:ext cx="457200" cy="152430"/>
            <a:chOff x="7543800" y="3811768"/>
            <a:chExt cx="457200" cy="152430"/>
          </a:xfrm>
        </p:grpSpPr>
        <p:sp>
          <p:nvSpPr>
            <p:cNvPr id="27" name="DSGRP_42"/>
            <p:cNvSpPr/>
            <p:nvPr/>
          </p:nvSpPr>
          <p:spPr>
            <a:xfrm>
              <a:off x="7734270" y="3811768"/>
              <a:ext cx="266730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運用</a:t>
              </a:r>
              <a:endParaRPr lang="en-US" sz="1050" dirty="0"/>
            </a:p>
          </p:txBody>
        </p:sp>
        <p:sp>
          <p:nvSpPr>
            <p:cNvPr id="28" name="DSGRP_42"/>
            <p:cNvSpPr/>
            <p:nvPr/>
          </p:nvSpPr>
          <p:spPr>
            <a:xfrm>
              <a:off x="7543800" y="3832708"/>
              <a:ext cx="114300" cy="114300"/>
            </a:xfrm>
            <a:prstGeom prst="roundRect">
              <a:avLst>
                <a:gd name="adj" fmla="val 33360"/>
              </a:avLst>
            </a:prstGeom>
            <a:solidFill>
              <a:srgbClr val="E25100"/>
            </a:solidFill>
            <a:ln/>
          </p:spPr>
        </p:sp>
      </p:grpSp>
      <p:sp>
        <p:nvSpPr>
          <p:cNvPr id="29" name="Shape 26"/>
          <p:cNvSpPr/>
          <p:nvPr/>
        </p:nvSpPr>
        <p:spPr>
          <a:xfrm>
            <a:off x="457200" y="6254222"/>
            <a:ext cx="11277570" cy="299009"/>
          </a:xfrm>
          <a:prstGeom prst="rect">
            <a:avLst/>
          </a:prstGeom>
          <a:ln/>
        </p:spPr>
      </p:sp>
      <p:sp>
        <p:nvSpPr>
          <p:cNvPr id="30" name="Shape 27"/>
          <p:cNvSpPr/>
          <p:nvPr/>
        </p:nvSpPr>
        <p:spPr>
          <a:xfrm>
            <a:off x="457200" y="6254222"/>
            <a:ext cx="1127757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1" name="Text 28"/>
          <p:cNvSpPr/>
          <p:nvPr/>
        </p:nvSpPr>
        <p:spPr>
          <a:xfrm>
            <a:off x="457200" y="6368522"/>
            <a:ext cx="7383231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値はプレースホルダ。長さで量を比較（Cleveland–McGill）・装飾排除（データインク）・グリッド整列（ガイドブック）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1106120" y="114300"/>
            <a:ext cx="9334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（組織名）限定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1146170" y="312450"/>
            <a:ext cx="893460" cy="236190"/>
          </a:xfrm>
          <a:prstGeom prst="rect">
            <a:avLst>
              <a:gd name="adj" fmla="val 16144"/>
            </a:avLst>
          </a:prstGeom>
          <a:solidFill>
            <a:srgbClr val="FFEEE2"/>
          </a:solidFill>
          <a:ln/>
        </p:spPr>
        <p:txBody>
          <a:bodyPr wrap="square" lIns="38100" tIns="76200" rIns="76200" bIns="3810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C3E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機密性2情報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152430" y="6583680"/>
            <a:ext cx="1135868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（組織名）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11631625" y="6583680"/>
            <a:ext cx="407914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21 / 28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3880"/>
            <a:ext cx="7352508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付録E: </a:t>
            </a:r>
            <a:pPr algn="l" indent="0" marL="0">
              <a:buNone/>
            </a:pPr>
            <a:r>
              <a:rPr lang="en-US" sz="27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グラフ事例集</a:t>
            </a:r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（用途別のチャート選択）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83930"/>
            <a:ext cx="2396825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多系列 折れ線 </a:t>
            </a:r>
            <a:pPr algn="l"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— 時系列トレンドの比較</a:t>
            </a:r>
            <a:endParaRPr lang="en-US" sz="10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06769"/>
          <a:ext cx="5410230" cy="14287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324630" y="1083930"/>
            <a:ext cx="2061881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100% 積み上げ棒 </a:t>
            </a:r>
            <a:pPr algn="l"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— 構成比の推移</a:t>
            </a:r>
            <a:endParaRPr lang="en-US" sz="105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6324630" y="1306769"/>
          <a:ext cx="5410230" cy="14287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2878348"/>
            <a:ext cx="1553474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ドーナツ </a:t>
            </a:r>
            <a:pPr algn="l"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— 単一の構成比</a:t>
            </a:r>
            <a:endParaRPr lang="en-US" sz="1050" dirty="0"/>
          </a:p>
        </p:txBody>
      </p:sp>
      <p:graphicFrame>
        <p:nvGraphicFramePr>
          <p:cNvPr id="8" name="Chart 2" descr=""/>
          <p:cNvGraphicFramePr/>
          <p:nvPr/>
        </p:nvGraphicFramePr>
        <p:xfrm>
          <a:off x="457200" y="3101188"/>
          <a:ext cx="5410230" cy="14287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 4"/>
          <p:cNvSpPr/>
          <p:nvPr/>
        </p:nvSpPr>
        <p:spPr>
          <a:xfrm>
            <a:off x="6324630" y="2878348"/>
            <a:ext cx="1618397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散布図 </a:t>
            </a:r>
            <a:pPr algn="l"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— 2群の相関・分布</a:t>
            </a:r>
            <a:endParaRPr lang="en-US" sz="1050" dirty="0"/>
          </a:p>
        </p:txBody>
      </p:sp>
      <p:graphicFrame>
        <p:nvGraphicFramePr>
          <p:cNvPr id="10" name="Chart 3" descr=""/>
          <p:cNvGraphicFramePr/>
          <p:nvPr/>
        </p:nvGraphicFramePr>
        <p:xfrm>
          <a:off x="6324630" y="3101188"/>
          <a:ext cx="5410230" cy="14287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Shape 5"/>
          <p:cNvSpPr/>
          <p:nvPr/>
        </p:nvSpPr>
        <p:spPr>
          <a:xfrm>
            <a:off x="457200" y="6254222"/>
            <a:ext cx="11277570" cy="299009"/>
          </a:xfrm>
          <a:prstGeom prst="rect">
            <a:avLst/>
          </a:prstGeom>
          <a:ln/>
        </p:spPr>
      </p:sp>
      <p:sp>
        <p:nvSpPr>
          <p:cNvPr id="12" name="Shape 6"/>
          <p:cNvSpPr/>
          <p:nvPr/>
        </p:nvSpPr>
        <p:spPr>
          <a:xfrm>
            <a:off x="457200" y="6254222"/>
            <a:ext cx="1127757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" name="Text 7"/>
          <p:cNvSpPr/>
          <p:nvPr/>
        </p:nvSpPr>
        <p:spPr>
          <a:xfrm>
            <a:off x="457200" y="6368522"/>
            <a:ext cx="5986943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系列色は --cat-1..7（DS 7パレット）。用途に応じ選択(Cleveland–McGill)・装飾排除(データインク)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11106120" y="114300"/>
            <a:ext cx="9334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（組織名）限定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11146170" y="312450"/>
            <a:ext cx="893460" cy="236190"/>
          </a:xfrm>
          <a:prstGeom prst="rect">
            <a:avLst>
              <a:gd name="adj" fmla="val 16144"/>
            </a:avLst>
          </a:prstGeom>
          <a:solidFill>
            <a:srgbClr val="FFEEE2"/>
          </a:solidFill>
          <a:ln/>
        </p:spPr>
        <p:txBody>
          <a:bodyPr wrap="square" lIns="38100" tIns="76200" rIns="76200" bIns="3810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C3E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機密性2情報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152430" y="6583680"/>
            <a:ext cx="1135868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（組織名）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11631625" y="6583680"/>
            <a:ext cx="407914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22 / 28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3880"/>
            <a:ext cx="4892680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付録F: </a:t>
            </a:r>
            <a:pPr algn="l" indent="0" marL="0">
              <a:buNone/>
            </a:pPr>
            <a:r>
              <a:rPr lang="en-US" sz="27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告知と手順</a:t>
            </a:r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の部品活用例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83930"/>
            <a:ext cx="2165391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バナー（.banner） — 全幅の告知帯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1344808"/>
            <a:ext cx="11277570" cy="521940"/>
          </a:xfrm>
          <a:prstGeom prst="rect">
            <a:avLst>
              <a:gd name="adj" fmla="val 14594"/>
            </a:avLst>
          </a:prstGeom>
          <a:solidFill>
            <a:srgbClr val="E8F1FE"/>
          </a:solidFill>
          <a:ln w="9525">
            <a:solidFill>
              <a:srgbClr val="0031D8"/>
            </a:solidFill>
          </a:ln>
        </p:spPr>
        <p:txBody>
          <a:bodyPr wrap="square" lIns="114300" tIns="152400" rIns="152400" bIns="11430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お知らせ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新しいテンプレートを公開しました。表紙・章扉の重要通知に。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1942917"/>
            <a:ext cx="11277570" cy="521940"/>
          </a:xfrm>
          <a:prstGeom prst="rect">
            <a:avLst>
              <a:gd name="adj" fmla="val 14594"/>
            </a:avLst>
          </a:prstGeom>
          <a:solidFill>
            <a:srgbClr val="FDEEEE"/>
          </a:solidFill>
          <a:ln w="9525">
            <a:solidFill>
              <a:srgbClr val="EC0000"/>
            </a:solidFill>
          </a:ln>
        </p:spPr>
        <p:txBody>
          <a:bodyPr wrap="square" lIns="114300" tIns="152400" rIns="152400" bIns="11430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E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緊急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システム障害が発生しています。至急ご確認ください。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2569647"/>
            <a:ext cx="4057376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ステップナビゲーション（.step-nav） — 手順の道標(済/現在/未来)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830525"/>
            <a:ext cx="803209" cy="4572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76200" tIns="114300" rIns="114300" bIns="762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選ぶ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336670" y="2906786"/>
            <a:ext cx="803209" cy="381030"/>
          </a:xfrm>
          <a:prstGeom prst="rect">
            <a:avLst/>
          </a:prstGeom>
          <a:solidFill>
            <a:srgbClr val="E8F1FE"/>
          </a:solidFill>
          <a:ln/>
        </p:spPr>
        <p:txBody>
          <a:bodyPr wrap="square" lIns="76200" tIns="114300" rIns="114300" bIns="762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書く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16048" y="2906786"/>
            <a:ext cx="939729" cy="38103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76200" tIns="114300" rIns="114300" bIns="762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整える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31947" y="2906786"/>
            <a:ext cx="803209" cy="38103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76200" tIns="114300" rIns="114300" bIns="762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配る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6040984"/>
            <a:ext cx="11277570" cy="512247"/>
          </a:xfrm>
          <a:prstGeom prst="rect">
            <a:avLst/>
          </a:prstGeom>
          <a:ln/>
        </p:spPr>
      </p:sp>
      <p:sp>
        <p:nvSpPr>
          <p:cNvPr id="12" name="Shape 10"/>
          <p:cNvSpPr/>
          <p:nvPr/>
        </p:nvSpPr>
        <p:spPr>
          <a:xfrm>
            <a:off x="457200" y="6040984"/>
            <a:ext cx="1127757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6155284"/>
            <a:ext cx="7432975" cy="365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バナー=通知/緊急、ステップナビ=済/現在/未来。DS の notification/emergency-banner・step-navigation に着想した自作部品(トークン準拠)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106120" y="114300"/>
            <a:ext cx="9334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（組織名）限定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146170" y="312450"/>
            <a:ext cx="893460" cy="236190"/>
          </a:xfrm>
          <a:prstGeom prst="rect">
            <a:avLst>
              <a:gd name="adj" fmla="val 16144"/>
            </a:avLst>
          </a:prstGeom>
          <a:solidFill>
            <a:srgbClr val="FFEEE2"/>
          </a:solidFill>
          <a:ln/>
        </p:spPr>
        <p:txBody>
          <a:bodyPr wrap="square" lIns="38100" tIns="76200" rIns="76200" bIns="3810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C3E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機密性2情報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52430" y="6583680"/>
            <a:ext cx="1135868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（組織名）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631625" y="6583680"/>
            <a:ext cx="407914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23 / 28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3880"/>
            <a:ext cx="10674340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付録G: </a:t>
            </a:r>
            <a:pPr algn="l" indent="0" marL="0">
              <a:buNone/>
            </a:pPr>
            <a:r>
              <a:rPr lang="en-US" sz="27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公式コンポーネント ①</a:t>
            </a:r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（カード・リスト・パンくず）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83930"/>
            <a:ext cx="2044141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カード（.dads-card-example-2）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344808"/>
            <a:ext cx="5410230" cy="2904592"/>
          </a:xfrm>
          <a:prstGeom prst="rect">
            <a:avLst/>
          </a:prstGeom>
          <a:solidFill>
            <a:srgbClr val="FFFFFF"/>
          </a:solidFill>
          <a:ln w="9525">
            <a:solidFill>
              <a:srgbClr val="9494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90870" y="1582918"/>
            <a:ext cx="1165951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地域緑化事業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390870" y="2030608"/>
            <a:ext cx="2201327" cy="1197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住民の皆さまが参加できる地域緑化事業を行っています。地域交流を促進するとともに、地域の景観美化を目的としています。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90870" y="3506450"/>
            <a:ext cx="2238360" cy="9510"/>
          </a:xfrm>
          <a:prstGeom prst="rect">
            <a:avLst/>
          </a:prstGeom>
          <a:ln/>
        </p:spPr>
      </p:sp>
      <p:sp>
        <p:nvSpPr>
          <p:cNvPr id="8" name="Shape 6"/>
          <p:cNvSpPr/>
          <p:nvPr/>
        </p:nvSpPr>
        <p:spPr>
          <a:xfrm>
            <a:off x="3390870" y="3506450"/>
            <a:ext cx="2238360" cy="9510"/>
          </a:xfrm>
          <a:prstGeom prst="rect">
            <a:avLst/>
          </a:prstGeom>
          <a:solidFill>
            <a:srgbClr val="767676"/>
          </a:solidFill>
          <a:ln/>
        </p:spPr>
      </p:sp>
      <p:sp>
        <p:nvSpPr>
          <p:cNvPr id="9" name="Text 7"/>
          <p:cNvSpPr/>
          <p:nvPr/>
        </p:nvSpPr>
        <p:spPr>
          <a:xfrm>
            <a:off x="4609033" y="3744559"/>
            <a:ext cx="1020196" cy="342900"/>
          </a:xfrm>
          <a:prstGeom prst="rect">
            <a:avLst/>
          </a:prstGeom>
          <a:solidFill>
            <a:srgbClr val="0055AD"/>
          </a:solidFill>
          <a:ln/>
        </p:spPr>
        <p:txBody>
          <a:bodyPr wrap="square" lIns="57150" tIns="76200" rIns="76200" bIns="5715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詳しくみる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710" y="1354318"/>
            <a:ext cx="2695560" cy="2885481"/>
          </a:xfrm>
          <a:prstGeom prst="rect">
            <a:avLst/>
          </a:prstGeom>
          <a:ln/>
        </p:spPr>
      </p:sp>
      <p:sp>
        <p:nvSpPr>
          <p:cNvPr id="11" name="Shape 9"/>
          <p:cNvSpPr/>
          <p:nvPr/>
        </p:nvSpPr>
        <p:spPr>
          <a:xfrm>
            <a:off x="3152760" y="1354318"/>
            <a:ext cx="9510" cy="2885481"/>
          </a:xfrm>
          <a:prstGeom prst="rect">
            <a:avLst/>
          </a:prstGeom>
          <a:solidFill>
            <a:srgbClr val="949494"/>
          </a:solidFill>
          <a:ln/>
        </p:spPr>
      </p:sp>
      <p:sp>
        <p:nvSpPr>
          <p:cNvPr id="12" name="Text 10"/>
          <p:cNvSpPr/>
          <p:nvPr/>
        </p:nvSpPr>
        <p:spPr>
          <a:xfrm>
            <a:off x="6324630" y="1083930"/>
            <a:ext cx="1798168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箇条書きリスト（.dads-list）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29400" y="1421069"/>
            <a:ext cx="3321832" cy="1043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短いテキスト</a:t>
            </a:r>
            <a:endParaRPr lang="en-US" sz="1350" dirty="0"/>
          </a:p>
          <a:p>
            <a:pPr algn="l" marL="190500" indent="-1905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これは少し長めのテキストサンプルです。</a:t>
            </a:r>
            <a:endParaRPr lang="en-US" sz="1350" dirty="0"/>
          </a:p>
          <a:p>
            <a:pPr algn="l" marL="190500" indent="-1905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ネストされたリスト </a:t>
            </a:r>
            <a:endParaRPr lang="en-US" sz="1350" dirty="0"/>
          </a:p>
          <a:p>
            <a:pPr algn="l" marL="190500" indent="-1905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1. </a:t>
            </a:r>
            <a:pPr algn="l" marL="190500" indent="-1905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番号付きリストの項目</a:t>
            </a:r>
            <a:endParaRPr lang="en-US" sz="1350" dirty="0"/>
          </a:p>
          <a:p>
            <a:pPr algn="l" marL="190500" indent="-190500">
              <a:buSzPct val="100000"/>
              <a:buChar char="•"/>
            </a:pPr>
            <a:r>
              <a:rPr lang="en-US" sz="1350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2. </a:t>
            </a:r>
            <a:endParaRPr lang="en-US" sz="1350" dirty="0"/>
          </a:p>
          <a:p>
            <a:pPr algn="l" marL="190500" indent="-190500">
              <a:buSzPct val="100000"/>
              <a:buChar char="•"/>
            </a:pPr>
            <a:r>
              <a:rPr lang="en-US" sz="1350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リンクを含む項目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24630" y="3430646"/>
            <a:ext cx="2385487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パンくずリスト（.dads-breadcrumb）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76970" y="3739164"/>
            <a:ext cx="564368" cy="16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ホーム 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20102" y="3739164"/>
            <a:ext cx="621792" cy="16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組織情報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66014" y="3739164"/>
            <a:ext cx="1742206" cy="16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デザインシステムの導入 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6254222"/>
            <a:ext cx="11277570" cy="299009"/>
          </a:xfrm>
          <a:prstGeom prst="rect">
            <a:avLst/>
          </a:prstGeom>
          <a:ln/>
        </p:spPr>
      </p:sp>
      <p:sp>
        <p:nvSpPr>
          <p:cNvPr id="19" name="Shape 17"/>
          <p:cNvSpPr/>
          <p:nvPr/>
        </p:nvSpPr>
        <p:spPr>
          <a:xfrm>
            <a:off x="457200" y="6254222"/>
            <a:ext cx="1127757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6368522"/>
            <a:ext cx="680405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デジタル庁DS公式サンプルの無改変同梱（vendor/dads-components, MIT）。styles/dads-components.css で描画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106120" y="114300"/>
            <a:ext cx="9334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（組織名）限定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146170" y="312450"/>
            <a:ext cx="893460" cy="236190"/>
          </a:xfrm>
          <a:prstGeom prst="rect">
            <a:avLst>
              <a:gd name="adj" fmla="val 16144"/>
            </a:avLst>
          </a:prstGeom>
          <a:solidFill>
            <a:srgbClr val="FFEEE2"/>
          </a:solidFill>
          <a:ln/>
        </p:spPr>
        <p:txBody>
          <a:bodyPr wrap="square" lIns="38100" tIns="76200" rIns="76200" bIns="3810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C3E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機密性2情報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52430" y="6583680"/>
            <a:ext cx="1135868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（組織名）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631625" y="6583680"/>
            <a:ext cx="407914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24 / 28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3880"/>
            <a:ext cx="11014314" cy="836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付録H: </a:t>
            </a:r>
            <a:pPr algn="l" indent="0" marL="0">
              <a:buNone/>
            </a:pPr>
            <a:r>
              <a:rPr lang="en-US" sz="27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公式コンポーネント ②</a:t>
            </a:r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（チェックボックス・ラジオ・進捗）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529608"/>
            <a:ext cx="2366467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チェックボックス（.dads-checkbox）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1838127"/>
            <a:ext cx="1191920" cy="16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東京23区 </a:t>
            </a:r>
            <a:pPr algn="l" indent="0" marL="0">
              <a:buNone/>
            </a:pPr>
            <a:r>
              <a:rPr lang="en-US" sz="1200" b="1" dirty="0">
                <a:solidFill>
                  <a:srgbClr val="EC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※必須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173346"/>
            <a:ext cx="3000055" cy="16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該当するすべての区を選択してください。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5821" y="2527584"/>
            <a:ext cx="171450" cy="171450"/>
          </a:xfrm>
          <a:prstGeom prst="roundRect">
            <a:avLst>
              <a:gd name="adj" fmla="val 61707"/>
            </a:avLst>
          </a:prstGeom>
          <a:solidFill>
            <a:srgbClr val="0017C1"/>
          </a:solidFill>
          <a:ln w="19050">
            <a:solidFill>
              <a:srgbClr val="0017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3930" y="2518075"/>
            <a:ext cx="457200" cy="16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足立区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5821" y="2908524"/>
            <a:ext cx="171450" cy="171450"/>
          </a:xfrm>
          <a:prstGeom prst="roundRect">
            <a:avLst>
              <a:gd name="adj" fmla="val 61707"/>
            </a:avLst>
          </a:prstGeom>
          <a:solidFill>
            <a:srgbClr val="FFFFFF"/>
          </a:solidFill>
          <a:ln w="19050">
            <a:solidFill>
              <a:srgbClr val="6666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3930" y="2899014"/>
            <a:ext cx="457200" cy="16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荒川区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89554"/>
            <a:ext cx="1804386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ラジオボタン（.dads-radio）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598073"/>
            <a:ext cx="946953" cy="16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お住まいの区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933292"/>
            <a:ext cx="1575877" cy="16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いずれか一つを選択。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6220" y="4277929"/>
            <a:ext cx="190470" cy="190470"/>
          </a:xfrm>
          <a:prstGeom prst="roundRect">
            <a:avLst>
              <a:gd name="adj" fmla="val 255064"/>
            </a:avLst>
          </a:prstGeom>
          <a:solidFill>
            <a:srgbClr val="FFFFFF"/>
          </a:solidFill>
          <a:ln w="19050">
            <a:solidFill>
              <a:srgbClr val="0017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3930" y="4277929"/>
            <a:ext cx="457200" cy="16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足立区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6220" y="4658959"/>
            <a:ext cx="190470" cy="190470"/>
          </a:xfrm>
          <a:prstGeom prst="roundRect">
            <a:avLst>
              <a:gd name="adj" fmla="val 255064"/>
            </a:avLst>
          </a:prstGeom>
          <a:solidFill>
            <a:srgbClr val="FFFFFF"/>
          </a:solidFill>
          <a:ln w="19050">
            <a:solidFill>
              <a:srgbClr val="6666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3930" y="4658959"/>
            <a:ext cx="457200" cy="16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荒川区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24630" y="1529608"/>
            <a:ext cx="4432097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プログレスインジケーター（.dads-progress-indicator） — 静的(処理中)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24630" y="2447757"/>
            <a:ext cx="466435" cy="16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処理中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10135" y="2142896"/>
            <a:ext cx="466435" cy="16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処理中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6254222"/>
            <a:ext cx="11277570" cy="299009"/>
          </a:xfrm>
          <a:prstGeom prst="rect">
            <a:avLst/>
          </a:prstGeom>
          <a:ln/>
        </p:spPr>
      </p:sp>
      <p:sp>
        <p:nvSpPr>
          <p:cNvPr id="21" name="Shape 19"/>
          <p:cNvSpPr/>
          <p:nvPr/>
        </p:nvSpPr>
        <p:spPr>
          <a:xfrm>
            <a:off x="457200" y="6254222"/>
            <a:ext cx="1127757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368522"/>
            <a:ext cx="680405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デジタル庁DS公式サンプルの無改変同梱（vendor/dads-components, MIT）。styles/dads-components.css で描画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106120" y="114300"/>
            <a:ext cx="9334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（組織名）限定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146170" y="312450"/>
            <a:ext cx="893460" cy="236190"/>
          </a:xfrm>
          <a:prstGeom prst="rect">
            <a:avLst>
              <a:gd name="adj" fmla="val 16144"/>
            </a:avLst>
          </a:prstGeom>
          <a:solidFill>
            <a:srgbClr val="FFEEE2"/>
          </a:solidFill>
          <a:ln/>
        </p:spPr>
        <p:txBody>
          <a:bodyPr wrap="square" lIns="38100" tIns="76200" rIns="76200" bIns="3810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C3E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機密性2情報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52430" y="6583680"/>
            <a:ext cx="1135868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（組織名）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631625" y="6583680"/>
            <a:ext cx="407914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25 / 28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3880"/>
            <a:ext cx="7153260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長い時系列は</a:t>
            </a:r>
            <a:pPr algn="l" indent="0" marL="0">
              <a:buNone/>
            </a:pPr>
            <a:r>
              <a:rPr lang="en-US" sz="27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2段タイムライン</a:t>
            </a:r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で折り返します</a:t>
            </a:r>
            <a:endParaRPr lang="en-US" sz="2700" dirty="0"/>
          </a:p>
        </p:txBody>
      </p:sp>
      <p:grpSp>
        <p:nvGrpSpPr>
          <p:cNvPr id="42" name="DSGRP_43"/>
          <p:cNvGrpSpPr/>
          <p:nvPr/>
        </p:nvGrpSpPr>
        <p:grpSpPr>
          <a:xfrm>
            <a:off x="457200" y="1967149"/>
            <a:ext cx="2705070" cy="1497239"/>
            <a:chOff x="457200" y="1967149"/>
            <a:chExt cx="2705070" cy="1497239"/>
          </a:xfrm>
        </p:grpSpPr>
        <p:sp>
          <p:nvSpPr>
            <p:cNvPr id="3" name="DSGRP_43"/>
            <p:cNvSpPr/>
            <p:nvPr/>
          </p:nvSpPr>
          <p:spPr>
            <a:xfrm>
              <a:off x="457200" y="1967149"/>
              <a:ext cx="2705070" cy="1497239"/>
            </a:xfrm>
            <a:prstGeom prst="roundRect">
              <a:avLst>
                <a:gd name="adj" fmla="val 5087"/>
              </a:avLst>
            </a:prstGeom>
            <a:solidFill>
              <a:srgbClr val="F2F2F2"/>
            </a:solidFill>
            <a:ln w="9525">
              <a:solidFill>
                <a:srgbClr val="CCCCCC"/>
              </a:solidFill>
              <a:prstDash val="solid"/>
            </a:ln>
          </p:spPr>
        </p:sp>
        <p:sp>
          <p:nvSpPr>
            <p:cNvPr id="4" name="DSGRP_43"/>
            <p:cNvSpPr/>
            <p:nvPr/>
          </p:nvSpPr>
          <p:spPr>
            <a:xfrm>
              <a:off x="619140" y="2128998"/>
              <a:ext cx="2381280" cy="289499"/>
            </a:xfrm>
            <a:prstGeom prst="rect">
              <a:avLst>
                <a:gd name="adj" fmla="val 52653"/>
              </a:avLst>
            </a:prstGeom>
            <a:solidFill>
              <a:srgbClr val="0031D8"/>
            </a:solidFill>
            <a:ln/>
          </p:spPr>
          <p:txBody>
            <a:bodyPr wrap="square" lIns="38100" tIns="114300" rIns="114300" bIns="38100" rtlCol="0" anchor="t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0月</a:t>
              </a:r>
              <a:endParaRPr lang="en-US" sz="1050" dirty="0"/>
            </a:p>
          </p:txBody>
        </p:sp>
        <p:sp>
          <p:nvSpPr>
            <p:cNvPr id="5" name="DSGRP_43"/>
            <p:cNvSpPr/>
            <p:nvPr/>
          </p:nvSpPr>
          <p:spPr>
            <a:xfrm>
              <a:off x="619140" y="2580437"/>
              <a:ext cx="381030" cy="2095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500" b="1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企画</a:t>
              </a:r>
              <a:endParaRPr lang="en-US" sz="1500" dirty="0"/>
            </a:p>
          </p:txBody>
        </p:sp>
        <p:sp>
          <p:nvSpPr>
            <p:cNvPr id="6" name="DSGRP_43"/>
            <p:cNvSpPr/>
            <p:nvPr/>
          </p:nvSpPr>
          <p:spPr>
            <a:xfrm>
              <a:off x="619140" y="2989997"/>
              <a:ext cx="1379647" cy="190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3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課題と目標を定義</a:t>
              </a:r>
              <a:endParaRPr lang="en-US" sz="1350" dirty="0"/>
            </a:p>
          </p:txBody>
        </p:sp>
      </p:grpSp>
      <p:grpSp>
        <p:nvGrpSpPr>
          <p:cNvPr id="43" name="DSGRP_44"/>
          <p:cNvGrpSpPr/>
          <p:nvPr/>
        </p:nvGrpSpPr>
        <p:grpSpPr>
          <a:xfrm>
            <a:off x="3314700" y="2043318"/>
            <a:ext cx="2705070" cy="1421069"/>
            <a:chOff x="3314700" y="2043318"/>
            <a:chExt cx="2705070" cy="1421069"/>
          </a:xfrm>
        </p:grpSpPr>
        <p:sp>
          <p:nvSpPr>
            <p:cNvPr id="7" name="DSGRP_44"/>
            <p:cNvSpPr/>
            <p:nvPr/>
          </p:nvSpPr>
          <p:spPr>
            <a:xfrm>
              <a:off x="3314700" y="2043318"/>
              <a:ext cx="2705070" cy="1421069"/>
            </a:xfrm>
            <a:prstGeom prst="roundRect">
              <a:avLst>
                <a:gd name="adj" fmla="val 5360"/>
              </a:avLst>
            </a:prstGeom>
            <a:solidFill>
              <a:srgbClr val="F2F2F2"/>
            </a:solidFill>
            <a:ln w="9525">
              <a:solidFill>
                <a:srgbClr val="CCCCCC"/>
              </a:solidFill>
              <a:prstDash val="solid"/>
            </a:ln>
          </p:spPr>
        </p:sp>
        <p:sp>
          <p:nvSpPr>
            <p:cNvPr id="8" name="DSGRP_44"/>
            <p:cNvSpPr/>
            <p:nvPr/>
          </p:nvSpPr>
          <p:spPr>
            <a:xfrm>
              <a:off x="3476640" y="2205258"/>
              <a:ext cx="2381280" cy="289499"/>
            </a:xfrm>
            <a:prstGeom prst="rect">
              <a:avLst>
                <a:gd name="adj" fmla="val 52653"/>
              </a:avLst>
            </a:prstGeom>
            <a:solidFill>
              <a:srgbClr val="0031D8"/>
            </a:solidFill>
            <a:ln/>
          </p:spPr>
          <p:txBody>
            <a:bodyPr wrap="square" lIns="38100" tIns="114300" rIns="114300" bIns="38100" rtlCol="0" anchor="t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1月</a:t>
              </a:r>
              <a:endParaRPr lang="en-US" sz="1050" dirty="0"/>
            </a:p>
          </p:txBody>
        </p:sp>
        <p:sp>
          <p:nvSpPr>
            <p:cNvPr id="9" name="DSGRP_44"/>
            <p:cNvSpPr/>
            <p:nvPr/>
          </p:nvSpPr>
          <p:spPr>
            <a:xfrm>
              <a:off x="3476640" y="2656606"/>
              <a:ext cx="381030" cy="2095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500" b="1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要件</a:t>
              </a:r>
              <a:endParaRPr lang="en-US" sz="1500" dirty="0"/>
            </a:p>
          </p:txBody>
        </p:sp>
        <p:sp>
          <p:nvSpPr>
            <p:cNvPr id="10" name="DSGRP_44"/>
            <p:cNvSpPr/>
            <p:nvPr/>
          </p:nvSpPr>
          <p:spPr>
            <a:xfrm>
              <a:off x="3476640" y="3066166"/>
              <a:ext cx="861273" cy="190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3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要件を確定</a:t>
              </a:r>
              <a:endParaRPr lang="en-US" sz="1350" dirty="0"/>
            </a:p>
          </p:txBody>
        </p:sp>
      </p:grpSp>
      <p:grpSp>
        <p:nvGrpSpPr>
          <p:cNvPr id="44" name="DSGRP_45"/>
          <p:cNvGrpSpPr/>
          <p:nvPr/>
        </p:nvGrpSpPr>
        <p:grpSpPr>
          <a:xfrm>
            <a:off x="6172200" y="2043318"/>
            <a:ext cx="2705070" cy="1421069"/>
            <a:chOff x="6172200" y="2043318"/>
            <a:chExt cx="2705070" cy="1421069"/>
          </a:xfrm>
        </p:grpSpPr>
        <p:sp>
          <p:nvSpPr>
            <p:cNvPr id="11" name="DSGRP_45"/>
            <p:cNvSpPr/>
            <p:nvPr/>
          </p:nvSpPr>
          <p:spPr>
            <a:xfrm>
              <a:off x="6172200" y="2043318"/>
              <a:ext cx="2705070" cy="1421069"/>
            </a:xfrm>
            <a:prstGeom prst="roundRect">
              <a:avLst>
                <a:gd name="adj" fmla="val 5360"/>
              </a:avLst>
            </a:prstGeom>
            <a:solidFill>
              <a:srgbClr val="F2F2F2"/>
            </a:solidFill>
            <a:ln w="9525">
              <a:solidFill>
                <a:srgbClr val="CCCCCC"/>
              </a:solidFill>
              <a:prstDash val="solid"/>
            </a:ln>
          </p:spPr>
        </p:sp>
        <p:sp>
          <p:nvSpPr>
            <p:cNvPr id="12" name="DSGRP_45"/>
            <p:cNvSpPr/>
            <p:nvPr/>
          </p:nvSpPr>
          <p:spPr>
            <a:xfrm>
              <a:off x="6334140" y="2205258"/>
              <a:ext cx="2381280" cy="289499"/>
            </a:xfrm>
            <a:prstGeom prst="rect">
              <a:avLst>
                <a:gd name="adj" fmla="val 52653"/>
              </a:avLst>
            </a:prstGeom>
            <a:solidFill>
              <a:srgbClr val="0031D8"/>
            </a:solidFill>
            <a:ln/>
          </p:spPr>
          <p:txBody>
            <a:bodyPr wrap="square" lIns="38100" tIns="114300" rIns="114300" bIns="38100" rtlCol="0" anchor="t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2月</a:t>
              </a:r>
              <a:endParaRPr lang="en-US" sz="1050" dirty="0"/>
            </a:p>
          </p:txBody>
        </p:sp>
        <p:sp>
          <p:nvSpPr>
            <p:cNvPr id="13" name="DSGRP_45"/>
            <p:cNvSpPr/>
            <p:nvPr/>
          </p:nvSpPr>
          <p:spPr>
            <a:xfrm>
              <a:off x="6334140" y="2656606"/>
              <a:ext cx="381030" cy="2095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500" b="1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設計</a:t>
              </a:r>
              <a:endParaRPr lang="en-US" sz="1500" dirty="0"/>
            </a:p>
          </p:txBody>
        </p:sp>
        <p:sp>
          <p:nvSpPr>
            <p:cNvPr id="14" name="DSGRP_45"/>
            <p:cNvSpPr/>
            <p:nvPr/>
          </p:nvSpPr>
          <p:spPr>
            <a:xfrm>
              <a:off x="6334140" y="3066166"/>
              <a:ext cx="1375623" cy="190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3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方式・画面を設計</a:t>
              </a:r>
              <a:endParaRPr lang="en-US" sz="1350" dirty="0"/>
            </a:p>
          </p:txBody>
        </p:sp>
      </p:grpSp>
      <p:grpSp>
        <p:nvGrpSpPr>
          <p:cNvPr id="45" name="DSGRP_46"/>
          <p:cNvGrpSpPr/>
          <p:nvPr/>
        </p:nvGrpSpPr>
        <p:grpSpPr>
          <a:xfrm>
            <a:off x="9029700" y="2043318"/>
            <a:ext cx="2705070" cy="1421069"/>
            <a:chOff x="9029700" y="2043318"/>
            <a:chExt cx="2705070" cy="1421069"/>
          </a:xfrm>
        </p:grpSpPr>
        <p:sp>
          <p:nvSpPr>
            <p:cNvPr id="15" name="DSGRP_46"/>
            <p:cNvSpPr/>
            <p:nvPr/>
          </p:nvSpPr>
          <p:spPr>
            <a:xfrm>
              <a:off x="9029700" y="2043318"/>
              <a:ext cx="2705070" cy="1421069"/>
            </a:xfrm>
            <a:prstGeom prst="roundRect">
              <a:avLst>
                <a:gd name="adj" fmla="val 5360"/>
              </a:avLst>
            </a:prstGeom>
            <a:solidFill>
              <a:srgbClr val="F2F2F2"/>
            </a:solidFill>
            <a:ln w="9525">
              <a:solidFill>
                <a:srgbClr val="0031D8"/>
              </a:solidFill>
              <a:prstDash val="solid"/>
            </a:ln>
          </p:spPr>
        </p:sp>
        <p:sp>
          <p:nvSpPr>
            <p:cNvPr id="16" name="DSGRP_46"/>
            <p:cNvSpPr/>
            <p:nvPr/>
          </p:nvSpPr>
          <p:spPr>
            <a:xfrm>
              <a:off x="9191640" y="2205258"/>
              <a:ext cx="2381280" cy="289499"/>
            </a:xfrm>
            <a:prstGeom prst="rect">
              <a:avLst>
                <a:gd name="adj" fmla="val 52653"/>
              </a:avLst>
            </a:prstGeom>
            <a:solidFill>
              <a:srgbClr val="0031D8"/>
            </a:solidFill>
            <a:ln/>
          </p:spPr>
          <p:txBody>
            <a:bodyPr wrap="square" lIns="38100" tIns="114300" rIns="114300" bIns="38100" rtlCol="0" anchor="t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4月</a:t>
              </a:r>
              <a:endParaRPr lang="en-US" sz="1050" dirty="0"/>
            </a:p>
          </p:txBody>
        </p:sp>
        <p:sp>
          <p:nvSpPr>
            <p:cNvPr id="17" name="DSGRP_46"/>
            <p:cNvSpPr/>
            <p:nvPr/>
          </p:nvSpPr>
          <p:spPr>
            <a:xfrm>
              <a:off x="9191640" y="2656606"/>
              <a:ext cx="381030" cy="2095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500" b="1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開発</a:t>
              </a:r>
              <a:endParaRPr lang="en-US" sz="1500" dirty="0"/>
            </a:p>
          </p:txBody>
        </p:sp>
        <p:sp>
          <p:nvSpPr>
            <p:cNvPr id="18" name="DSGRP_46"/>
            <p:cNvSpPr/>
            <p:nvPr/>
          </p:nvSpPr>
          <p:spPr>
            <a:xfrm>
              <a:off x="9191640" y="3066166"/>
              <a:ext cx="1216243" cy="190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3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実装とレビュー</a:t>
              </a:r>
              <a:endParaRPr lang="en-US" sz="1350" dirty="0"/>
            </a:p>
          </p:txBody>
        </p:sp>
      </p:grpSp>
      <p:grpSp>
        <p:nvGrpSpPr>
          <p:cNvPr id="46" name="DSGRP_47"/>
          <p:cNvGrpSpPr/>
          <p:nvPr/>
        </p:nvGrpSpPr>
        <p:grpSpPr>
          <a:xfrm>
            <a:off x="457200" y="3692804"/>
            <a:ext cx="2705070" cy="1497239"/>
            <a:chOff x="457200" y="3692804"/>
            <a:chExt cx="2705070" cy="1497239"/>
          </a:xfrm>
        </p:grpSpPr>
        <p:sp>
          <p:nvSpPr>
            <p:cNvPr id="19" name="DSGRP_47"/>
            <p:cNvSpPr/>
            <p:nvPr/>
          </p:nvSpPr>
          <p:spPr>
            <a:xfrm>
              <a:off x="457200" y="3692804"/>
              <a:ext cx="2705070" cy="1497239"/>
            </a:xfrm>
            <a:prstGeom prst="roundRect">
              <a:avLst>
                <a:gd name="adj" fmla="val 5087"/>
              </a:avLst>
            </a:prstGeom>
            <a:solidFill>
              <a:srgbClr val="F2F2F2"/>
            </a:solidFill>
            <a:ln w="9525">
              <a:solidFill>
                <a:srgbClr val="CCCCCC"/>
              </a:solidFill>
              <a:prstDash val="solid"/>
            </a:ln>
          </p:spPr>
        </p:sp>
        <p:sp>
          <p:nvSpPr>
            <p:cNvPr id="20" name="DSGRP_47"/>
            <p:cNvSpPr/>
            <p:nvPr/>
          </p:nvSpPr>
          <p:spPr>
            <a:xfrm>
              <a:off x="619140" y="3854745"/>
              <a:ext cx="2381280" cy="289499"/>
            </a:xfrm>
            <a:prstGeom prst="rect">
              <a:avLst>
                <a:gd name="adj" fmla="val 52653"/>
              </a:avLst>
            </a:prstGeom>
            <a:solidFill>
              <a:srgbClr val="E6E6E6"/>
            </a:solidFill>
            <a:ln/>
          </p:spPr>
          <p:txBody>
            <a:bodyPr wrap="square" lIns="38100" tIns="114300" rIns="114300" bIns="38100" rtlCol="0" anchor="t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6月</a:t>
              </a:r>
              <a:endParaRPr lang="en-US" sz="1050" dirty="0"/>
            </a:p>
          </p:txBody>
        </p:sp>
        <p:sp>
          <p:nvSpPr>
            <p:cNvPr id="21" name="DSGRP_47"/>
            <p:cNvSpPr/>
            <p:nvPr/>
          </p:nvSpPr>
          <p:spPr>
            <a:xfrm>
              <a:off x="619140" y="4306184"/>
              <a:ext cx="381030" cy="2095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500" b="1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試験</a:t>
              </a:r>
              <a:endParaRPr lang="en-US" sz="1500" dirty="0"/>
            </a:p>
          </p:txBody>
        </p:sp>
        <p:sp>
          <p:nvSpPr>
            <p:cNvPr id="22" name="DSGRP_47"/>
            <p:cNvSpPr/>
            <p:nvPr/>
          </p:nvSpPr>
          <p:spPr>
            <a:xfrm>
              <a:off x="619140" y="4715744"/>
              <a:ext cx="1200150" cy="190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3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結合・受入試験</a:t>
              </a:r>
              <a:endParaRPr lang="en-US" sz="1350" dirty="0"/>
            </a:p>
          </p:txBody>
        </p:sp>
      </p:grpSp>
      <p:grpSp>
        <p:nvGrpSpPr>
          <p:cNvPr id="47" name="DSGRP_48"/>
          <p:cNvGrpSpPr/>
          <p:nvPr/>
        </p:nvGrpSpPr>
        <p:grpSpPr>
          <a:xfrm>
            <a:off x="3314700" y="3769065"/>
            <a:ext cx="2705070" cy="1421069"/>
            <a:chOff x="3314700" y="3769065"/>
            <a:chExt cx="2705070" cy="1421069"/>
          </a:xfrm>
        </p:grpSpPr>
        <p:sp>
          <p:nvSpPr>
            <p:cNvPr id="23" name="DSGRP_48"/>
            <p:cNvSpPr/>
            <p:nvPr/>
          </p:nvSpPr>
          <p:spPr>
            <a:xfrm>
              <a:off x="3314700" y="3769065"/>
              <a:ext cx="2705070" cy="1421069"/>
            </a:xfrm>
            <a:prstGeom prst="roundRect">
              <a:avLst>
                <a:gd name="adj" fmla="val 5360"/>
              </a:avLst>
            </a:prstGeom>
            <a:solidFill>
              <a:srgbClr val="F2F2F2"/>
            </a:solidFill>
            <a:ln w="9525">
              <a:solidFill>
                <a:srgbClr val="CCCCCC"/>
              </a:solidFill>
              <a:prstDash val="solid"/>
            </a:ln>
          </p:spPr>
        </p:sp>
        <p:sp>
          <p:nvSpPr>
            <p:cNvPr id="24" name="DSGRP_48"/>
            <p:cNvSpPr/>
            <p:nvPr/>
          </p:nvSpPr>
          <p:spPr>
            <a:xfrm>
              <a:off x="3476640" y="3931006"/>
              <a:ext cx="2381280" cy="289499"/>
            </a:xfrm>
            <a:prstGeom prst="rect">
              <a:avLst>
                <a:gd name="adj" fmla="val 52653"/>
              </a:avLst>
            </a:prstGeom>
            <a:solidFill>
              <a:srgbClr val="E6E6E6"/>
            </a:solidFill>
            <a:ln/>
          </p:spPr>
          <p:txBody>
            <a:bodyPr wrap="square" lIns="38100" tIns="114300" rIns="114300" bIns="38100" rtlCol="0" anchor="t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7月</a:t>
              </a:r>
              <a:endParaRPr lang="en-US" sz="1050" dirty="0"/>
            </a:p>
          </p:txBody>
        </p:sp>
        <p:sp>
          <p:nvSpPr>
            <p:cNvPr id="25" name="DSGRP_48"/>
            <p:cNvSpPr/>
            <p:nvPr/>
          </p:nvSpPr>
          <p:spPr>
            <a:xfrm>
              <a:off x="3476640" y="4382353"/>
              <a:ext cx="381030" cy="2095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500" b="1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移行</a:t>
              </a:r>
              <a:endParaRPr lang="en-US" sz="1500" dirty="0"/>
            </a:p>
          </p:txBody>
        </p:sp>
        <p:sp>
          <p:nvSpPr>
            <p:cNvPr id="26" name="DSGRP_48"/>
            <p:cNvSpPr/>
            <p:nvPr/>
          </p:nvSpPr>
          <p:spPr>
            <a:xfrm>
              <a:off x="3476640" y="4791913"/>
              <a:ext cx="1383670" cy="190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3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データ移行と切替</a:t>
              </a:r>
              <a:endParaRPr lang="en-US" sz="1350" dirty="0"/>
            </a:p>
          </p:txBody>
        </p:sp>
      </p:grpSp>
      <p:grpSp>
        <p:nvGrpSpPr>
          <p:cNvPr id="48" name="DSGRP_49"/>
          <p:cNvGrpSpPr/>
          <p:nvPr/>
        </p:nvGrpSpPr>
        <p:grpSpPr>
          <a:xfrm>
            <a:off x="6172200" y="3769065"/>
            <a:ext cx="2705070" cy="1421069"/>
            <a:chOff x="6172200" y="3769065"/>
            <a:chExt cx="2705070" cy="1421069"/>
          </a:xfrm>
        </p:grpSpPr>
        <p:sp>
          <p:nvSpPr>
            <p:cNvPr id="27" name="DSGRP_49"/>
            <p:cNvSpPr/>
            <p:nvPr/>
          </p:nvSpPr>
          <p:spPr>
            <a:xfrm>
              <a:off x="6172200" y="3769065"/>
              <a:ext cx="2705070" cy="1421069"/>
            </a:xfrm>
            <a:prstGeom prst="roundRect">
              <a:avLst>
                <a:gd name="adj" fmla="val 5360"/>
              </a:avLst>
            </a:prstGeom>
            <a:solidFill>
              <a:srgbClr val="F2F2F2"/>
            </a:solidFill>
            <a:ln w="9525">
              <a:solidFill>
                <a:srgbClr val="CCCCCC"/>
              </a:solidFill>
              <a:prstDash val="solid"/>
            </a:ln>
          </p:spPr>
        </p:sp>
        <p:sp>
          <p:nvSpPr>
            <p:cNvPr id="28" name="DSGRP_49"/>
            <p:cNvSpPr/>
            <p:nvPr/>
          </p:nvSpPr>
          <p:spPr>
            <a:xfrm>
              <a:off x="6334140" y="3931006"/>
              <a:ext cx="2381280" cy="289499"/>
            </a:xfrm>
            <a:prstGeom prst="rect">
              <a:avLst>
                <a:gd name="adj" fmla="val 52653"/>
              </a:avLst>
            </a:prstGeom>
            <a:solidFill>
              <a:srgbClr val="E6E6E6"/>
            </a:solidFill>
            <a:ln/>
          </p:spPr>
          <p:txBody>
            <a:bodyPr wrap="square" lIns="38100" tIns="114300" rIns="114300" bIns="38100" rtlCol="0" anchor="t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8月</a:t>
              </a:r>
              <a:endParaRPr lang="en-US" sz="1050" dirty="0"/>
            </a:p>
          </p:txBody>
        </p:sp>
        <p:sp>
          <p:nvSpPr>
            <p:cNvPr id="29" name="DSGRP_49"/>
            <p:cNvSpPr/>
            <p:nvPr/>
          </p:nvSpPr>
          <p:spPr>
            <a:xfrm>
              <a:off x="6334140" y="4382353"/>
              <a:ext cx="381030" cy="2095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500" b="1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公開</a:t>
              </a:r>
              <a:endParaRPr lang="en-US" sz="1500" dirty="0"/>
            </a:p>
          </p:txBody>
        </p:sp>
        <p:sp>
          <p:nvSpPr>
            <p:cNvPr id="30" name="DSGRP_49"/>
            <p:cNvSpPr/>
            <p:nvPr/>
          </p:nvSpPr>
          <p:spPr>
            <a:xfrm>
              <a:off x="6334140" y="4791913"/>
              <a:ext cx="1200150" cy="190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3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本番公開・周知</a:t>
              </a:r>
              <a:endParaRPr lang="en-US" sz="1350" dirty="0"/>
            </a:p>
          </p:txBody>
        </p:sp>
      </p:grpSp>
      <p:grpSp>
        <p:nvGrpSpPr>
          <p:cNvPr id="49" name="DSGRP_50"/>
          <p:cNvGrpSpPr/>
          <p:nvPr/>
        </p:nvGrpSpPr>
        <p:grpSpPr>
          <a:xfrm>
            <a:off x="9029700" y="3769065"/>
            <a:ext cx="2705070" cy="1421069"/>
            <a:chOff x="9029700" y="3769065"/>
            <a:chExt cx="2705070" cy="1421069"/>
          </a:xfrm>
        </p:grpSpPr>
        <p:sp>
          <p:nvSpPr>
            <p:cNvPr id="31" name="DSGRP_50"/>
            <p:cNvSpPr/>
            <p:nvPr/>
          </p:nvSpPr>
          <p:spPr>
            <a:xfrm>
              <a:off x="9029700" y="3769065"/>
              <a:ext cx="2705070" cy="1421069"/>
            </a:xfrm>
            <a:prstGeom prst="roundRect">
              <a:avLst>
                <a:gd name="adj" fmla="val 5360"/>
              </a:avLst>
            </a:prstGeom>
            <a:solidFill>
              <a:srgbClr val="F2F2F2"/>
            </a:solidFill>
            <a:ln w="9525">
              <a:solidFill>
                <a:srgbClr val="CCCCCC"/>
              </a:solidFill>
              <a:prstDash val="solid"/>
            </a:ln>
          </p:spPr>
        </p:sp>
        <p:sp>
          <p:nvSpPr>
            <p:cNvPr id="32" name="DSGRP_50"/>
            <p:cNvSpPr/>
            <p:nvPr/>
          </p:nvSpPr>
          <p:spPr>
            <a:xfrm>
              <a:off x="9191640" y="3931006"/>
              <a:ext cx="2381280" cy="289499"/>
            </a:xfrm>
            <a:prstGeom prst="rect">
              <a:avLst>
                <a:gd name="adj" fmla="val 52653"/>
              </a:avLst>
            </a:prstGeom>
            <a:solidFill>
              <a:srgbClr val="E6E6E6"/>
            </a:solidFill>
            <a:ln/>
          </p:spPr>
          <p:txBody>
            <a:bodyPr wrap="square" lIns="38100" tIns="114300" rIns="114300" bIns="38100" rtlCol="0" anchor="t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10月</a:t>
              </a:r>
              <a:endParaRPr lang="en-US" sz="1050" dirty="0"/>
            </a:p>
          </p:txBody>
        </p:sp>
        <p:sp>
          <p:nvSpPr>
            <p:cNvPr id="33" name="DSGRP_50"/>
            <p:cNvSpPr/>
            <p:nvPr/>
          </p:nvSpPr>
          <p:spPr>
            <a:xfrm>
              <a:off x="9191640" y="4382353"/>
              <a:ext cx="381030" cy="2095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500" b="1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評価</a:t>
              </a:r>
              <a:endParaRPr lang="en-US" sz="1500" dirty="0"/>
            </a:p>
          </p:txBody>
        </p:sp>
        <p:sp>
          <p:nvSpPr>
            <p:cNvPr id="34" name="DSGRP_50"/>
            <p:cNvSpPr/>
            <p:nvPr/>
          </p:nvSpPr>
          <p:spPr>
            <a:xfrm>
              <a:off x="9191640" y="4791913"/>
              <a:ext cx="1204173" cy="190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350" dirty="0">
                  <a:solidFill>
                    <a:srgbClr val="66666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効果測定と改善</a:t>
              </a:r>
              <a:endParaRPr lang="en-US" sz="1350" dirty="0"/>
            </a:p>
          </p:txBody>
        </p:sp>
      </p:grpSp>
      <p:sp>
        <p:nvSpPr>
          <p:cNvPr id="35" name="Shape 33"/>
          <p:cNvSpPr/>
          <p:nvPr/>
        </p:nvSpPr>
        <p:spPr>
          <a:xfrm>
            <a:off x="457200" y="6254222"/>
            <a:ext cx="11277570" cy="299009"/>
          </a:xfrm>
          <a:prstGeom prst="rect">
            <a:avLst/>
          </a:prstGeom>
          <a:ln/>
        </p:spPr>
      </p:sp>
      <p:sp>
        <p:nvSpPr>
          <p:cNvPr id="36" name="Shape 34"/>
          <p:cNvSpPr/>
          <p:nvPr/>
        </p:nvSpPr>
        <p:spPr>
          <a:xfrm>
            <a:off x="457200" y="6254222"/>
            <a:ext cx="1127757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6368522"/>
            <a:ext cx="5726156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4段を超える長い時系列は前半/後半に折り返す。状態(済/現在/未来)と時期ラベルは1段版と共通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1106120" y="114300"/>
            <a:ext cx="9334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（組織名）限定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146170" y="312450"/>
            <a:ext cx="893460" cy="236190"/>
          </a:xfrm>
          <a:prstGeom prst="rect">
            <a:avLst>
              <a:gd name="adj" fmla="val 16144"/>
            </a:avLst>
          </a:prstGeom>
          <a:solidFill>
            <a:srgbClr val="FFEEE2"/>
          </a:solidFill>
          <a:ln/>
        </p:spPr>
        <p:txBody>
          <a:bodyPr wrap="square" lIns="38100" tIns="76200" rIns="76200" bIns="3810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C3E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機密性2情報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52430" y="6583680"/>
            <a:ext cx="1135868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（組織名）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1631625" y="6583680"/>
            <a:ext cx="407914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26 / 28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3880"/>
            <a:ext cx="7322515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付録J: </a:t>
            </a:r>
            <a:pPr algn="l" indent="0" marL="0">
              <a:buNone/>
            </a:pPr>
            <a:r>
              <a:rPr lang="en-US" sz="27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横ツリー</a:t>
            </a:r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（左→右の深いロジック構造）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 flipV="1">
            <a:off x="4337456" y="2817632"/>
            <a:ext cx="762518" cy="760964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37456" y="3578504"/>
            <a:ext cx="762518" cy="40892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37456" y="3578504"/>
            <a:ext cx="762518" cy="1169883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grpSp>
        <p:nvGrpSpPr>
          <p:cNvPr id="33" name="DSGRP_51"/>
          <p:cNvGrpSpPr/>
          <p:nvPr/>
        </p:nvGrpSpPr>
        <p:grpSpPr>
          <a:xfrm>
            <a:off x="2450318" y="3351733"/>
            <a:ext cx="1886956" cy="453268"/>
            <a:chOff x="2450318" y="3351733"/>
            <a:chExt cx="1886956" cy="453268"/>
          </a:xfrm>
        </p:grpSpPr>
        <p:sp>
          <p:nvSpPr>
            <p:cNvPr id="6" name="DSGRP_51"/>
            <p:cNvSpPr/>
            <p:nvPr/>
          </p:nvSpPr>
          <p:spPr>
            <a:xfrm>
              <a:off x="2450318" y="3351733"/>
              <a:ext cx="1886956" cy="453268"/>
            </a:xfrm>
            <a:prstGeom prst="roundRect">
              <a:avLst>
                <a:gd name="adj" fmla="val 16805"/>
              </a:avLst>
            </a:prstGeom>
            <a:solidFill>
              <a:srgbClr val="0031D8"/>
            </a:solidFill>
            <a:ln w="9525">
              <a:solidFill>
                <a:srgbClr val="0031D8"/>
              </a:solidFill>
              <a:prstDash val="solid"/>
            </a:ln>
          </p:spPr>
        </p:sp>
        <p:sp>
          <p:nvSpPr>
            <p:cNvPr id="7" name="DSGRP_51"/>
            <p:cNvSpPr/>
            <p:nvPr/>
          </p:nvSpPr>
          <p:spPr>
            <a:xfrm>
              <a:off x="2612258" y="3475543"/>
              <a:ext cx="1563167" cy="190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この構成を採用する</a:t>
              </a:r>
              <a:endParaRPr lang="en-US" sz="1350" dirty="0"/>
            </a:p>
          </p:txBody>
        </p:sp>
      </p:grpSp>
      <p:sp>
        <p:nvSpPr>
          <p:cNvPr id="8" name="Shape 6"/>
          <p:cNvSpPr/>
          <p:nvPr/>
        </p:nvSpPr>
        <p:spPr>
          <a:xfrm flipV="1">
            <a:off x="6691213" y="2385761"/>
            <a:ext cx="762610" cy="434614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91213" y="2820375"/>
            <a:ext cx="762610" cy="363017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grpSp>
        <p:nvGrpSpPr>
          <p:cNvPr id="34" name="DSGRP_52"/>
          <p:cNvGrpSpPr/>
          <p:nvPr/>
        </p:nvGrpSpPr>
        <p:grpSpPr>
          <a:xfrm>
            <a:off x="5099334" y="2593696"/>
            <a:ext cx="1591879" cy="453268"/>
            <a:chOff x="5099334" y="2593696"/>
            <a:chExt cx="1591879" cy="453268"/>
          </a:xfrm>
        </p:grpSpPr>
        <p:sp>
          <p:nvSpPr>
            <p:cNvPr id="10" name="DSGRP_52"/>
            <p:cNvSpPr/>
            <p:nvPr/>
          </p:nvSpPr>
          <p:spPr>
            <a:xfrm>
              <a:off x="5099334" y="2593696"/>
              <a:ext cx="1591879" cy="453268"/>
            </a:xfrm>
            <a:prstGeom prst="roundRect">
              <a:avLst>
                <a:gd name="adj" fmla="val 16805"/>
              </a:avLst>
            </a:prstGeom>
            <a:solidFill>
              <a:srgbClr val="F2F2F2"/>
            </a:solidFill>
            <a:ln w="9525">
              <a:solidFill>
                <a:srgbClr val="999999"/>
              </a:solidFill>
              <a:prstDash val="solid"/>
            </a:ln>
          </p:spPr>
        </p:sp>
        <p:sp>
          <p:nvSpPr>
            <p:cNvPr id="11" name="DSGRP_52"/>
            <p:cNvSpPr/>
            <p:nvPr/>
          </p:nvSpPr>
          <p:spPr>
            <a:xfrm>
              <a:off x="5261275" y="2717505"/>
              <a:ext cx="1268090" cy="190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350" b="1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① 伝わりやすさ</a:t>
              </a:r>
              <a:endParaRPr lang="en-US" sz="1350" dirty="0"/>
            </a:p>
          </p:txBody>
        </p:sp>
      </p:grpSp>
      <p:grpSp>
        <p:nvGrpSpPr>
          <p:cNvPr id="35" name="DSGRP_53"/>
          <p:cNvGrpSpPr/>
          <p:nvPr/>
        </p:nvGrpSpPr>
        <p:grpSpPr>
          <a:xfrm>
            <a:off x="7453092" y="2180387"/>
            <a:ext cx="2073036" cy="407640"/>
            <a:chOff x="7453092" y="2180387"/>
            <a:chExt cx="2073036" cy="407640"/>
          </a:xfrm>
        </p:grpSpPr>
        <p:sp>
          <p:nvSpPr>
            <p:cNvPr id="12" name="DSGRP_53"/>
            <p:cNvSpPr/>
            <p:nvPr/>
          </p:nvSpPr>
          <p:spPr>
            <a:xfrm>
              <a:off x="7453092" y="2180387"/>
              <a:ext cx="2073036" cy="407640"/>
            </a:xfrm>
            <a:prstGeom prst="roundRect">
              <a:avLst>
                <a:gd name="adj" fmla="val 18685"/>
              </a:avLst>
            </a:prstGeom>
            <a:solidFill>
              <a:srgbClr val="E6E6E6"/>
            </a:solidFill>
            <a:ln w="9525">
              <a:solidFill>
                <a:srgbClr val="999999"/>
              </a:solidFill>
              <a:prstDash val="solid"/>
            </a:ln>
          </p:spPr>
        </p:sp>
        <p:sp>
          <p:nvSpPr>
            <p:cNvPr id="13" name="DSGRP_53"/>
            <p:cNvSpPr/>
            <p:nvPr/>
          </p:nvSpPr>
          <p:spPr>
            <a:xfrm>
              <a:off x="7615032" y="2304197"/>
              <a:ext cx="1749156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b="1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結論先出しで要点が即伝わる</a:t>
              </a:r>
              <a:endParaRPr lang="en-US" sz="1050" dirty="0"/>
            </a:p>
          </p:txBody>
        </p:sp>
      </p:grpSp>
      <p:grpSp>
        <p:nvGrpSpPr>
          <p:cNvPr id="36" name="DSGRP_54"/>
          <p:cNvGrpSpPr/>
          <p:nvPr/>
        </p:nvGrpSpPr>
        <p:grpSpPr>
          <a:xfrm>
            <a:off x="7453092" y="2892704"/>
            <a:ext cx="2288377" cy="567568"/>
            <a:chOff x="7453092" y="2892704"/>
            <a:chExt cx="2288377" cy="567568"/>
          </a:xfrm>
        </p:grpSpPr>
        <p:sp>
          <p:nvSpPr>
            <p:cNvPr id="14" name="DSGRP_54"/>
            <p:cNvSpPr/>
            <p:nvPr/>
          </p:nvSpPr>
          <p:spPr>
            <a:xfrm>
              <a:off x="7453092" y="2892704"/>
              <a:ext cx="2288377" cy="567568"/>
            </a:xfrm>
            <a:prstGeom prst="roundRect">
              <a:avLst>
                <a:gd name="adj" fmla="val 13420"/>
              </a:avLst>
            </a:prstGeom>
            <a:solidFill>
              <a:srgbClr val="E6E6E6"/>
            </a:solidFill>
            <a:ln w="9525">
              <a:solidFill>
                <a:srgbClr val="999999"/>
              </a:solidFill>
              <a:prstDash val="solid"/>
            </a:ln>
          </p:spPr>
        </p:sp>
        <p:sp>
          <p:nvSpPr>
            <p:cNvPr id="15" name="DSGRP_54"/>
            <p:cNvSpPr/>
            <p:nvPr/>
          </p:nvSpPr>
          <p:spPr>
            <a:xfrm>
              <a:off x="7615032" y="3016606"/>
              <a:ext cx="1901312" cy="312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b="1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アクションタイトルで主張が残る</a:t>
              </a:r>
              <a:endParaRPr lang="en-US" sz="1050" dirty="0"/>
            </a:p>
          </p:txBody>
        </p:sp>
      </p:grpSp>
      <p:sp>
        <p:nvSpPr>
          <p:cNvPr id="16" name="Shape 14"/>
          <p:cNvSpPr/>
          <p:nvPr/>
        </p:nvSpPr>
        <p:spPr>
          <a:xfrm flipV="1">
            <a:off x="6519581" y="3987150"/>
            <a:ext cx="762701" cy="4663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grpSp>
        <p:nvGrpSpPr>
          <p:cNvPr id="37" name="DSGRP_55"/>
          <p:cNvGrpSpPr/>
          <p:nvPr/>
        </p:nvGrpSpPr>
        <p:grpSpPr>
          <a:xfrm>
            <a:off x="5099334" y="3765225"/>
            <a:ext cx="1416406" cy="453268"/>
            <a:chOff x="5099334" y="3765225"/>
            <a:chExt cx="1416406" cy="453268"/>
          </a:xfrm>
        </p:grpSpPr>
        <p:sp>
          <p:nvSpPr>
            <p:cNvPr id="17" name="DSGRP_55"/>
            <p:cNvSpPr/>
            <p:nvPr/>
          </p:nvSpPr>
          <p:spPr>
            <a:xfrm>
              <a:off x="5099334" y="3765225"/>
              <a:ext cx="1416406" cy="453268"/>
            </a:xfrm>
            <a:prstGeom prst="roundRect">
              <a:avLst>
                <a:gd name="adj" fmla="val 16805"/>
              </a:avLst>
            </a:prstGeom>
            <a:solidFill>
              <a:srgbClr val="F2F2F2"/>
            </a:solidFill>
            <a:ln w="9525">
              <a:solidFill>
                <a:srgbClr val="999999"/>
              </a:solidFill>
              <a:prstDash val="solid"/>
            </a:ln>
          </p:spPr>
        </p:sp>
        <p:sp>
          <p:nvSpPr>
            <p:cNvPr id="18" name="DSGRP_55"/>
            <p:cNvSpPr/>
            <p:nvPr/>
          </p:nvSpPr>
          <p:spPr>
            <a:xfrm>
              <a:off x="5261275" y="3889035"/>
              <a:ext cx="1092525" cy="190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350" b="1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② 作りやすさ</a:t>
              </a:r>
              <a:endParaRPr lang="en-US" sz="1350" dirty="0"/>
            </a:p>
          </p:txBody>
        </p:sp>
      </p:grpSp>
      <p:grpSp>
        <p:nvGrpSpPr>
          <p:cNvPr id="38" name="DSGRP_56"/>
          <p:cNvGrpSpPr/>
          <p:nvPr/>
        </p:nvGrpSpPr>
        <p:grpSpPr>
          <a:xfrm>
            <a:off x="7277710" y="3787993"/>
            <a:ext cx="1939625" cy="407640"/>
            <a:chOff x="7277710" y="3787993"/>
            <a:chExt cx="1939625" cy="407640"/>
          </a:xfrm>
        </p:grpSpPr>
        <p:sp>
          <p:nvSpPr>
            <p:cNvPr id="19" name="DSGRP_56"/>
            <p:cNvSpPr/>
            <p:nvPr/>
          </p:nvSpPr>
          <p:spPr>
            <a:xfrm>
              <a:off x="7277710" y="3787993"/>
              <a:ext cx="1939625" cy="407640"/>
            </a:xfrm>
            <a:prstGeom prst="roundRect">
              <a:avLst>
                <a:gd name="adj" fmla="val 18685"/>
              </a:avLst>
            </a:prstGeom>
            <a:solidFill>
              <a:srgbClr val="E6E6E6"/>
            </a:solidFill>
            <a:ln w="9525">
              <a:solidFill>
                <a:srgbClr val="999999"/>
              </a:solidFill>
              <a:prstDash val="solid"/>
            </a:ln>
          </p:spPr>
        </p:sp>
        <p:sp>
          <p:nvSpPr>
            <p:cNvPr id="20" name="DSGRP_56"/>
            <p:cNvSpPr/>
            <p:nvPr/>
          </p:nvSpPr>
          <p:spPr>
            <a:xfrm>
              <a:off x="7439558" y="3911803"/>
              <a:ext cx="1615836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b="1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トークンで色・余白が一貫</a:t>
              </a:r>
              <a:endParaRPr lang="en-US" sz="1050" dirty="0"/>
            </a:p>
          </p:txBody>
        </p:sp>
      </p:grpSp>
      <p:sp>
        <p:nvSpPr>
          <p:cNvPr id="21" name="Shape 19"/>
          <p:cNvSpPr/>
          <p:nvPr/>
        </p:nvSpPr>
        <p:spPr>
          <a:xfrm flipV="1">
            <a:off x="6691213" y="4745279"/>
            <a:ext cx="762610" cy="4755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grpSp>
        <p:nvGrpSpPr>
          <p:cNvPr id="39" name="DSGRP_57"/>
          <p:cNvGrpSpPr/>
          <p:nvPr/>
        </p:nvGrpSpPr>
        <p:grpSpPr>
          <a:xfrm>
            <a:off x="5099334" y="4523354"/>
            <a:ext cx="1587856" cy="453268"/>
            <a:chOff x="5099334" y="4523354"/>
            <a:chExt cx="1587856" cy="453268"/>
          </a:xfrm>
        </p:grpSpPr>
        <p:sp>
          <p:nvSpPr>
            <p:cNvPr id="22" name="DSGRP_57"/>
            <p:cNvSpPr/>
            <p:nvPr/>
          </p:nvSpPr>
          <p:spPr>
            <a:xfrm>
              <a:off x="5099334" y="4523354"/>
              <a:ext cx="1587856" cy="453268"/>
            </a:xfrm>
            <a:prstGeom prst="roundRect">
              <a:avLst>
                <a:gd name="adj" fmla="val 16805"/>
              </a:avLst>
            </a:prstGeom>
            <a:solidFill>
              <a:srgbClr val="F2F2F2"/>
            </a:solidFill>
            <a:ln w="9525">
              <a:solidFill>
                <a:srgbClr val="999999"/>
              </a:solidFill>
              <a:prstDash val="solid"/>
            </a:ln>
          </p:spPr>
        </p:sp>
        <p:sp>
          <p:nvSpPr>
            <p:cNvPr id="23" name="DSGRP_57"/>
            <p:cNvSpPr/>
            <p:nvPr/>
          </p:nvSpPr>
          <p:spPr>
            <a:xfrm>
              <a:off x="5261275" y="4647164"/>
              <a:ext cx="1263975" cy="190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350" b="1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③ 保守しやすさ</a:t>
              </a:r>
              <a:endParaRPr lang="en-US" sz="1350" dirty="0"/>
            </a:p>
          </p:txBody>
        </p:sp>
      </p:grpSp>
      <p:grpSp>
        <p:nvGrpSpPr>
          <p:cNvPr id="40" name="DSGRP_58"/>
          <p:cNvGrpSpPr/>
          <p:nvPr/>
        </p:nvGrpSpPr>
        <p:grpSpPr>
          <a:xfrm>
            <a:off x="7449160" y="4546122"/>
            <a:ext cx="1930298" cy="407640"/>
            <a:chOff x="7449160" y="4546122"/>
            <a:chExt cx="1930298" cy="407640"/>
          </a:xfrm>
        </p:grpSpPr>
        <p:sp>
          <p:nvSpPr>
            <p:cNvPr id="24" name="DSGRP_58"/>
            <p:cNvSpPr/>
            <p:nvPr/>
          </p:nvSpPr>
          <p:spPr>
            <a:xfrm>
              <a:off x="7449160" y="4546122"/>
              <a:ext cx="1930298" cy="407640"/>
            </a:xfrm>
            <a:prstGeom prst="roundRect">
              <a:avLst>
                <a:gd name="adj" fmla="val 18685"/>
              </a:avLst>
            </a:prstGeom>
            <a:solidFill>
              <a:srgbClr val="E6E6E6"/>
            </a:solidFill>
            <a:ln w="9525">
              <a:solidFill>
                <a:srgbClr val="999999"/>
              </a:solidFill>
              <a:prstDash val="solid"/>
            </a:ln>
          </p:spPr>
        </p:sp>
        <p:sp>
          <p:nvSpPr>
            <p:cNvPr id="25" name="DSGRP_58"/>
            <p:cNvSpPr/>
            <p:nvPr/>
          </p:nvSpPr>
          <p:spPr>
            <a:xfrm>
              <a:off x="7611008" y="4669932"/>
              <a:ext cx="1606509" cy="152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1050" b="1" dirty="0">
                  <a:solidFill>
                    <a:srgbClr val="33333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単一情報源で改修が局所化</a:t>
              </a:r>
              <a:endParaRPr lang="en-US" sz="1050" dirty="0"/>
            </a:p>
          </p:txBody>
        </p:sp>
      </p:grpSp>
      <p:sp>
        <p:nvSpPr>
          <p:cNvPr id="26" name="Shape 24"/>
          <p:cNvSpPr/>
          <p:nvPr/>
        </p:nvSpPr>
        <p:spPr>
          <a:xfrm>
            <a:off x="457200" y="6254222"/>
            <a:ext cx="11277570" cy="299009"/>
          </a:xfrm>
          <a:prstGeom prst="rect">
            <a:avLst/>
          </a:prstGeom>
          <a:ln/>
        </p:spPr>
      </p:sp>
      <p:sp>
        <p:nvSpPr>
          <p:cNvPr id="27" name="Shape 25"/>
          <p:cNvSpPr/>
          <p:nvPr/>
        </p:nvSpPr>
        <p:spPr>
          <a:xfrm>
            <a:off x="457200" y="6254222"/>
            <a:ext cx="1127757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6368522"/>
            <a:ext cx="6008614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縦が収まらない深い/枝の多い論理は横(左→右)で。縦ツリーと同一コンポーネント(.tree--horizontal)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106120" y="114300"/>
            <a:ext cx="9334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（組織名）限定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146170" y="312450"/>
            <a:ext cx="893460" cy="236190"/>
          </a:xfrm>
          <a:prstGeom prst="rect">
            <a:avLst>
              <a:gd name="adj" fmla="val 16144"/>
            </a:avLst>
          </a:prstGeom>
          <a:solidFill>
            <a:srgbClr val="FFEEE2"/>
          </a:solidFill>
          <a:ln/>
        </p:spPr>
        <p:txBody>
          <a:bodyPr wrap="square" lIns="38100" tIns="76200" rIns="76200" bIns="3810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C3E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機密性2情報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52430" y="6583680"/>
            <a:ext cx="1135868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（組織名）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631625" y="6583680"/>
            <a:ext cx="407914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27 / 28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3880"/>
            <a:ext cx="8308421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全レイアウトは</a:t>
            </a:r>
            <a:pPr algn="l" indent="0" marL="0">
              <a:buNone/>
            </a:pPr>
            <a:r>
              <a:rPr lang="en-US" sz="27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12カラム × 3行</a:t>
            </a:r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のグリッドに載ります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55400"/>
            <a:ext cx="11277570" cy="2743200"/>
          </a:xfrm>
          <a:prstGeom prst="roundRect">
            <a:avLst>
              <a:gd name="adj" fmla="val 2777"/>
            </a:avLst>
          </a:prstGeom>
          <a:solidFill>
            <a:srgbClr val="F2F2F2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9140" y="950610"/>
            <a:ext cx="3208264" cy="21323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76200" rIns="7620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安全域（本文領域） — 上下32px・左右48pxの内側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95310" y="1293510"/>
            <a:ext cx="10801350" cy="285750"/>
          </a:xfrm>
          <a:prstGeom prst="roundRect">
            <a:avLst>
              <a:gd name="adj" fmla="val 13344"/>
            </a:avLst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9120" y="1369680"/>
            <a:ext cx="2665476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行1</a:t>
            </a:r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auto ── 見出し（アクションタイトル）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95310" y="1693560"/>
            <a:ext cx="10801350" cy="1466880"/>
          </a:xfrm>
          <a:prstGeom prst="roundRect">
            <a:avLst>
              <a:gd name="adj" fmla="val 2599"/>
            </a:avLst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9120" y="1769730"/>
            <a:ext cx="2830708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行2</a:t>
            </a:r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1fr ── 本文・図版（12カラムで割り付け）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19120" y="1855500"/>
            <a:ext cx="669889" cy="609630"/>
          </a:xfrm>
          <a:prstGeom prst="rect">
            <a:avLst>
              <a:gd name="adj" fmla="val 6255"/>
            </a:avLst>
          </a:prstGeom>
          <a:solidFill>
            <a:srgbClr val="E8F1FE"/>
          </a:solidFill>
          <a:ln w="9525">
            <a:solidFill>
              <a:srgbClr val="0031D8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717609" y="1855500"/>
            <a:ext cx="669889" cy="609630"/>
          </a:xfrm>
          <a:prstGeom prst="rect">
            <a:avLst>
              <a:gd name="adj" fmla="val 6255"/>
            </a:avLst>
          </a:prstGeom>
          <a:solidFill>
            <a:srgbClr val="E8F1FE"/>
          </a:solidFill>
          <a:ln w="9525">
            <a:solidFill>
              <a:srgbClr val="0031D8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16098" y="1855500"/>
            <a:ext cx="669981" cy="609630"/>
          </a:xfrm>
          <a:prstGeom prst="rect">
            <a:avLst>
              <a:gd name="adj" fmla="val 6255"/>
            </a:avLst>
          </a:prstGeom>
          <a:solidFill>
            <a:srgbClr val="E8F1FE"/>
          </a:solidFill>
          <a:ln w="9525">
            <a:solidFill>
              <a:srgbClr val="0031D8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14771" y="1855500"/>
            <a:ext cx="669889" cy="609630"/>
          </a:xfrm>
          <a:prstGeom prst="rect">
            <a:avLst>
              <a:gd name="adj" fmla="val 6255"/>
            </a:avLst>
          </a:prstGeom>
          <a:solidFill>
            <a:srgbClr val="E8F1FE"/>
          </a:solidFill>
          <a:ln w="9525">
            <a:solidFill>
              <a:srgbClr val="0031D8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13260" y="1855500"/>
            <a:ext cx="669889" cy="609630"/>
          </a:xfrm>
          <a:prstGeom prst="rect">
            <a:avLst>
              <a:gd name="adj" fmla="val 6255"/>
            </a:avLst>
          </a:prstGeom>
          <a:solidFill>
            <a:srgbClr val="E8F1FE"/>
          </a:solidFill>
          <a:ln w="9525">
            <a:solidFill>
              <a:srgbClr val="0031D8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11750" y="1855500"/>
            <a:ext cx="669981" cy="609630"/>
          </a:xfrm>
          <a:prstGeom prst="rect">
            <a:avLst>
              <a:gd name="adj" fmla="val 6255"/>
            </a:avLst>
          </a:prstGeom>
          <a:solidFill>
            <a:srgbClr val="E8F1FE"/>
          </a:solidFill>
          <a:ln w="9525">
            <a:solidFill>
              <a:srgbClr val="0031D8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0330" y="1855500"/>
            <a:ext cx="669889" cy="609630"/>
          </a:xfrm>
          <a:prstGeom prst="rect">
            <a:avLst>
              <a:gd name="adj" fmla="val 6255"/>
            </a:avLst>
          </a:prstGeom>
          <a:solidFill>
            <a:srgbClr val="E8F1FE"/>
          </a:solidFill>
          <a:ln w="9525">
            <a:solidFill>
              <a:srgbClr val="0031D8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108820" y="1855500"/>
            <a:ext cx="669889" cy="609630"/>
          </a:xfrm>
          <a:prstGeom prst="rect">
            <a:avLst>
              <a:gd name="adj" fmla="val 6255"/>
            </a:avLst>
          </a:prstGeom>
          <a:solidFill>
            <a:srgbClr val="E8F1FE"/>
          </a:solidFill>
          <a:ln w="9525">
            <a:solidFill>
              <a:srgbClr val="0031D8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007309" y="1855500"/>
            <a:ext cx="669981" cy="609630"/>
          </a:xfrm>
          <a:prstGeom prst="rect">
            <a:avLst>
              <a:gd name="adj" fmla="val 6255"/>
            </a:avLst>
          </a:prstGeom>
          <a:solidFill>
            <a:srgbClr val="E8F1FE"/>
          </a:solidFill>
          <a:ln w="9525">
            <a:solidFill>
              <a:srgbClr val="0031D8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905890" y="1855500"/>
            <a:ext cx="669889" cy="609630"/>
          </a:xfrm>
          <a:prstGeom prst="rect">
            <a:avLst>
              <a:gd name="adj" fmla="val 6255"/>
            </a:avLst>
          </a:prstGeom>
          <a:solidFill>
            <a:srgbClr val="E8F1FE"/>
          </a:solidFill>
          <a:ln w="9525">
            <a:solidFill>
              <a:srgbClr val="0031D8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804380" y="1855500"/>
            <a:ext cx="669889" cy="609630"/>
          </a:xfrm>
          <a:prstGeom prst="rect">
            <a:avLst>
              <a:gd name="adj" fmla="val 6255"/>
            </a:avLst>
          </a:prstGeom>
          <a:solidFill>
            <a:srgbClr val="E8F1FE"/>
          </a:solidFill>
          <a:ln w="9525">
            <a:solidFill>
              <a:srgbClr val="0031D8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702869" y="1855500"/>
            <a:ext cx="669981" cy="609630"/>
          </a:xfrm>
          <a:prstGeom prst="rect">
            <a:avLst>
              <a:gd name="adj" fmla="val 6255"/>
            </a:avLst>
          </a:prstGeom>
          <a:solidFill>
            <a:srgbClr val="E8F1FE"/>
          </a:solidFill>
          <a:ln w="9525">
            <a:solidFill>
              <a:srgbClr val="0031D8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19120" y="2579340"/>
            <a:ext cx="3365449" cy="457200"/>
          </a:xfrm>
          <a:prstGeom prst="rect">
            <a:avLst>
              <a:gd name="adj" fmla="val 8340"/>
            </a:avLst>
          </a:prstGeom>
          <a:solidFill>
            <a:srgbClr val="E6E6E6"/>
          </a:solidFill>
          <a:ln w="9525">
            <a:solidFill>
              <a:srgbClr val="999999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.col-4（本文）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413260" y="2579340"/>
            <a:ext cx="6959590" cy="457200"/>
          </a:xfrm>
          <a:prstGeom prst="rect">
            <a:avLst>
              <a:gd name="adj" fmla="val 8340"/>
            </a:avLst>
          </a:prstGeom>
          <a:solidFill>
            <a:srgbClr val="E6E6E6"/>
          </a:solidFill>
          <a:ln w="9525">
            <a:solidFill>
              <a:srgbClr val="999999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.col-8（図版・コンポーネント）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95310" y="3274741"/>
            <a:ext cx="10801350" cy="285750"/>
          </a:xfrm>
          <a:prstGeom prst="roundRect">
            <a:avLst>
              <a:gd name="adj" fmla="val 13344"/>
            </a:avLst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9120" y="3350910"/>
            <a:ext cx="291657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行3</a:t>
            </a:r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auto ── フッタ（道標・出典・ページ番号）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3979560"/>
            <a:ext cx="2250247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キャンバス</a:t>
            </a:r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1280×720px（16:9固定）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164647" y="3979560"/>
            <a:ext cx="14173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カラム</a:t>
            </a:r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12（各1fr等分）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39167" y="3979560"/>
            <a:ext cx="1448592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行</a:t>
            </a:r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auto / 1fr / auto の3行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944959" y="3979560"/>
            <a:ext cx="1666311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ガター</a:t>
            </a:r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列間24px / 行間16px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068379" y="3979560"/>
            <a:ext cx="1793321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安全余白</a:t>
            </a:r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左右48px / 上下32px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6040984"/>
            <a:ext cx="11277570" cy="512247"/>
          </a:xfrm>
          <a:prstGeom prst="rect">
            <a:avLst/>
          </a:prstGeom>
          <a:ln/>
        </p:spPr>
      </p:sp>
      <p:sp>
        <p:nvSpPr>
          <p:cNvPr id="31" name="Shape 29"/>
          <p:cNvSpPr/>
          <p:nvPr/>
        </p:nvSpPr>
        <p:spPr>
          <a:xfrm>
            <a:off x="457200" y="6040984"/>
            <a:ext cx="1127757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6155284"/>
            <a:ext cx="7402434" cy="365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下地は styles/grid.css の変数と同一値（12カラム・3行 auto/1fr/auto）。配置は生pxではなく --space-* とカラムスパンで指定（整列・一貫性）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106120" y="114300"/>
            <a:ext cx="9334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（組織名）限定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146170" y="312450"/>
            <a:ext cx="893460" cy="236190"/>
          </a:xfrm>
          <a:prstGeom prst="rect">
            <a:avLst>
              <a:gd name="adj" fmla="val 16144"/>
            </a:avLst>
          </a:prstGeom>
          <a:solidFill>
            <a:srgbClr val="FFEEE2"/>
          </a:solidFill>
          <a:ln/>
        </p:spPr>
        <p:txBody>
          <a:bodyPr wrap="square" lIns="38100" tIns="76200" rIns="76200" bIns="3810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C3E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機密性2情報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52430" y="6583680"/>
            <a:ext cx="1135868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（組織名）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631625" y="6583680"/>
            <a:ext cx="407914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28 / 28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33"/>
      </a:dk2>
      <a:lt2>
        <a:srgbClr val="F2F2F2"/>
      </a:lt2>
      <a:accent1>
        <a:srgbClr val="0031D8"/>
      </a:accent1>
      <a:accent2>
        <a:srgbClr val="0877D7"/>
      </a:accent2>
      <a:accent3>
        <a:srgbClr val="008299"/>
      </a:accent3>
      <a:accent4>
        <a:srgbClr val="1D8B56"/>
      </a:accent4>
      <a:accent5>
        <a:srgbClr val="E25100"/>
      </a:accent5>
      <a:accent6>
        <a:srgbClr val="FA0000"/>
      </a:accent6>
      <a:hlink>
        <a:srgbClr val="0031D8"/>
      </a:hlink>
      <a:folHlink>
        <a:srgbClr val="00118F"/>
      </a:folHlink>
    </a:clrScheme>
    <a:fontScheme name="Office">
      <a:majorFont>
        <a:latin typeface="Noto Sans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2026-09-15T15:11:37Z</dcterms:created>
  <dcterms:modified xsi:type="dcterms:W3CDTF">2026-09-15T15:11:37Z</dcterms:modified>
</cp:coreProperties>
</file>